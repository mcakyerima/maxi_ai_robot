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1553" autoAdjust="0"/>
  </p:normalViewPr>
  <p:slideViewPr>
    <p:cSldViewPr snapToGrid="0" snapToObjects="1">
      <p:cViewPr>
        <p:scale>
          <a:sx n="75" d="100"/>
          <a:sy n="75" d="100"/>
        </p:scale>
        <p:origin x="-954" y="-10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31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[SPEAKER 1 — 10 sec]</a:t>
            </a:r>
          </a:p>
          <a:p>
            <a:r>
              <a:rPr dirty="0"/>
              <a:t>"Good morning. We are the Secondary School Cohort of the 6-Month Coding Bootcamp. Over six months we built Maxi — a </a:t>
            </a:r>
          </a:p>
          <a:p>
            <a:r>
              <a:rPr dirty="0"/>
              <a:t>robot that listens to a child, talks back in a friendly voice, and even counts</a:t>
            </a:r>
          </a:p>
          <a:p>
            <a:r>
              <a:rPr dirty="0" err="1"/>
              <a:t>maths</a:t>
            </a:r>
            <a:r>
              <a:rPr dirty="0"/>
              <a:t> out on real robotic fingers."</a:t>
            </a:r>
          </a:p>
          <a:p>
            <a:r>
              <a:rPr dirty="0"/>
              <a:t>Gesture to the robot on the table. Hold a beat,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1 — 25 sec]</a:t>
            </a:r>
          </a:p>
          <a:p>
            <a:r>
              <a:t>Point at each row as you name the teammate who owns it, so the audience knows who</a:t>
            </a:r>
          </a:p>
          <a:p>
            <a:r>
              <a:t>speaks when. Keep it to one line per row — do not read the descriptions out.</a:t>
            </a:r>
          </a:p>
          <a:p>
            <a:r>
              <a:t>"We split into hands, brain and app, so you will hear from all four of us."</a:t>
            </a:r>
          </a:p>
          <a:p>
            <a:r>
              <a:t>Then continue straight into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1 — 35 sec]</a:t>
            </a:r>
          </a:p>
          <a:p>
            <a:r>
              <a:t>"Before the tech, here is why we built this."</a:t>
            </a:r>
          </a:p>
          <a:p>
            <a:r>
              <a:t>One sentence per card — do NOT read them word for word. The middle card is the heart</a:t>
            </a:r>
          </a:p>
          <a:p>
            <a:r>
              <a:t>of it: young kids learn numbers physically, on fingers. That is why Maxi has hands.</a:t>
            </a:r>
          </a:p>
          <a:p>
            <a:r>
              <a:t>Land hard on the bottom line — that is the question the whole project answers.</a:t>
            </a:r>
          </a:p>
          <a:p>
            <a:r>
              <a:t>IMPORTANT: we are not replacing teachers. Say it here; it earns trust for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1 — 40 sec]</a:t>
            </a:r>
          </a:p>
          <a:p>
            <a:r>
              <a:t>This is the mental model for the whole talk. Point across the three cards:</a:t>
            </a:r>
          </a:p>
          <a:p>
            <a:r>
              <a:t>"Maxi senses with its ears, thinks in the cloud, and acts with its voice and hands.</a:t>
            </a:r>
          </a:p>
          <a:p>
            <a:r>
              <a:t>Sense, think, act — that is the whole robot."</a:t>
            </a:r>
          </a:p>
          <a:p>
            <a:r>
              <a:t>Then the bottom strip: the four physical pieces. "The face is a tablet. The hands are</a:t>
            </a:r>
          </a:p>
          <a:p>
            <a:r>
              <a:t>real servos. A Raspberry Pi drives the hands. And the thinking happens in the cloud."</a:t>
            </a:r>
          </a:p>
          <a:p>
            <a:r>
              <a:t>HAND OFF: "Student Two will show you how we actually built the body."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2 — 40 sec]</a:t>
            </a:r>
          </a:p>
          <a:p>
            <a:r>
              <a:t>Hold the robot's hand up if you can.</a:t>
            </a:r>
          </a:p>
          <a:p>
            <a:r>
              <a:t>"Each hand has five fingers and a wrist — six little servo motors — so twelve motors</a:t>
            </a:r>
          </a:p>
          <a:p>
            <a:r>
              <a:t>in total, all driven by one board: the Adafruit PCA9685."</a:t>
            </a:r>
          </a:p>
          <a:p>
            <a:r>
              <a:t>"Every finger is slightly different, so we measured and saved open-and-closed angles</a:t>
            </a:r>
          </a:p>
          <a:p>
            <a:r>
              <a:t>for each one. That calibration is why the fist actually looks like a fist."</a:t>
            </a:r>
          </a:p>
          <a:p>
            <a:r>
              <a:t>NOTE TO TEAM: fill the yellow bill-of-materials line (Pi model, servo model, power,</a:t>
            </a:r>
          </a:p>
          <a:p>
            <a:r>
              <a:t>cost) in the CONFIG block before you print — those are not read off the code.</a:t>
            </a:r>
          </a:p>
          <a:p>
            <a:r>
              <a:t>HAND OFF continues to the brain slide, still Speaker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2 — 50 sec]</a:t>
            </a:r>
          </a:p>
          <a:p>
            <a:r>
              <a:t>"Maxi's brain is not a chip inside the robot — it lives in the cloud."</a:t>
            </a:r>
          </a:p>
          <a:p>
            <a:r>
              <a:t>Walk the four blocks fast: a gateway, a language model, a set of skills, and a memory.</a:t>
            </a:r>
          </a:p>
          <a:p>
            <a:r>
              <a:t>THEN slow down for the yellow box — this is a highlight, tell it as a story:</a:t>
            </a:r>
          </a:p>
          <a:p>
            <a:r>
              <a:t>"We actually trained our OWN model first. We were proud of it. But we could not run it —</a:t>
            </a:r>
          </a:p>
          <a:p>
            <a:r>
              <a:t>we did not have the compute, and no funding to buy the hardware. So we made a real</a:t>
            </a:r>
          </a:p>
          <a:p>
            <a:r>
              <a:t>engineering decision: use a free cloud model, and spend our time on the robot itself."</a:t>
            </a:r>
          </a:p>
          <a:p>
            <a:r>
              <a:t>Judges and technical guests respect that honesty. HAND OFF stays with Speaker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2 — 35 sec]</a:t>
            </a:r>
          </a:p>
          <a:p>
            <a:r>
              <a:t>"Maxi mostly senses the world by listening."</a:t>
            </a:r>
          </a:p>
          <a:p>
            <a:r>
              <a:t>Card 1: the tablet mic + speech-to-text is the main sense. Card 2: a small model on the</a:t>
            </a:r>
          </a:p>
          <a:p>
            <a:r>
              <a:t>tablet listens just for the wake word, so it is not recording everything. Card 3: touch —</a:t>
            </a:r>
          </a:p>
          <a:p>
            <a:r>
              <a:t>tapping the screen or its head.</a:t>
            </a:r>
          </a:p>
          <a:p>
            <a:r>
              <a:t>Read the honesty strip out loud: "No camera yet — hearing is its main sense. Eyes are on</a:t>
            </a:r>
          </a:p>
          <a:p>
            <a:r>
              <a:t>the roadmap." Do NOT pretend it has sensors it does not.</a:t>
            </a:r>
          </a:p>
          <a:p>
            <a:r>
              <a:t>HAND OFF: "Student Three will show you how all of that turns into a decision."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3 — 45 sec]</a:t>
            </a:r>
          </a:p>
          <a:p>
            <a:r>
              <a:t>"People expect a robot to be a giant pile of if-statements. Ours is not. It is a state</a:t>
            </a:r>
          </a:p>
          <a:p>
            <a:r>
              <a:t>machine — it is always in exactly ONE of four states."</a:t>
            </a:r>
          </a:p>
          <a:p>
            <a:r>
              <a:t>Trace the top row: idle, listening, thinking, speaking, back to idle.</a:t>
            </a:r>
          </a:p>
          <a:p>
            <a:r>
              <a:t>Then the three rules — pick the first one to dwell on: "Maxi only accepts what it hears</a:t>
            </a:r>
          </a:p>
          <a:p>
            <a:r>
              <a:t>while it is in the listening state. That single rule is what stops it from hearing its own</a:t>
            </a:r>
          </a:p>
          <a:p>
            <a:r>
              <a:t>voice and talking to itself forever — which is exactly the bug we hit first."</a:t>
            </a:r>
          </a:p>
          <a:p>
            <a:r>
              <a:t>Mention: not PID, no motors racing — smooth cubic easing on the servos.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3 — 45 sec]</a:t>
            </a:r>
          </a:p>
          <a:p>
            <a:r>
              <a:t>Do NOT read the code character by character. Explain each block in one breath.</a:t>
            </a:r>
          </a:p>
          <a:p>
            <a:r>
              <a:t>LEFT: "A robot that talks can hear itself. These three lines say: only listen to new</a:t>
            </a:r>
          </a:p>
          <a:p>
            <a:r>
              <a:t>speech while we are actually in the listening state. That fixed our first big bug."</a:t>
            </a:r>
          </a:p>
          <a:p>
            <a:r>
              <a:t>RIGHT: "A servo does not understand 'ninety degrees'. It understands an electrical pulse.</a:t>
            </a:r>
          </a:p>
          <a:p>
            <a:r>
              <a:t>This is the little bit of maths that converts an angle into a pulse width — 0 to 180</a:t>
            </a:r>
          </a:p>
          <a:p>
            <a:r>
              <a:t>degrees becomes a pulse between 500 and 2500 microseconds."</a:t>
            </a:r>
          </a:p>
          <a:p>
            <a:r>
              <a:t>Bottom line: this part is not AI, it is ordinary programming, and we wrote it ourselves.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3 — 35 sec]</a:t>
            </a:r>
          </a:p>
          <a:p>
            <a:r>
              <a:t>Trace the chain left to right with your finger:</a:t>
            </a:r>
          </a:p>
          <a:p>
            <a:r>
              <a:t>"Tablet talks to the cloud brain. The brain sends hand commands to the Raspberry Pi.</a:t>
            </a:r>
          </a:p>
          <a:p>
            <a:r>
              <a:t>The Pi speaks I²C to the servo board, and the board drives the twelve motors."</a:t>
            </a:r>
          </a:p>
          <a:p>
            <a:r>
              <a:t>Name one real detail so it lands as real engineering: the Pi commands are signed with a</a:t>
            </a:r>
          </a:p>
          <a:p>
            <a:r>
              <a:t>secret key, and the servos run on a 50 Hz pulse.</a:t>
            </a:r>
          </a:p>
          <a:p>
            <a:r>
              <a:t>HAND OFF: "Student Four will show you everything Maxi can actually do — then the live demo."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4 — 35 sec]</a:t>
            </a:r>
          </a:p>
          <a:p>
            <a:r>
              <a:t>Do not read all ten tiles. Pick three or four and say them like a child would ask:</a:t>
            </a:r>
          </a:p>
          <a:p>
            <a:r>
              <a:t>"Hey Maxi, what's seven take away two? — and it counts five on its fingers." "Tell me a</a:t>
            </a:r>
          </a:p>
          <a:p>
            <a:r>
              <a:t>story." "How do you spell banana?" "What time is it?"</a:t>
            </a:r>
          </a:p>
          <a:p>
            <a:r>
              <a:t>Mention the one that always gets a reaction: "It remembers your name between sessions."</a:t>
            </a:r>
          </a:p>
          <a:p>
            <a:r>
              <a:t>Then: "Rather than list them — let me show you." → advance to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[SPEAKER 4 — 25 sec]</a:t>
            </a:r>
          </a:p>
          <a:p>
            <a:r>
              <a:rPr dirty="0"/>
              <a:t>"How do you know it works and we are not just hoping? Two ways."</a:t>
            </a:r>
          </a:p>
          <a:p>
            <a:r>
              <a:rPr dirty="0"/>
              <a:t>Point left: "We wrote tests that run without the robot — the brain checks itself." Point</a:t>
            </a:r>
          </a:p>
          <a:p>
            <a:r>
              <a:rPr dirty="0"/>
              <a:t>right-top: "The whole thing runs in a simulation on a laptop, so we did not need the robot</a:t>
            </a:r>
          </a:p>
          <a:p>
            <a:r>
              <a:rPr dirty="0"/>
              <a:t>to build it." Calibration: "this screen is where the real finger angles come from."</a:t>
            </a:r>
          </a:p>
          <a:p>
            <a:r>
              <a:rPr dirty="0"/>
              <a:t>Read the honest status line — software solid, hands still need tuning. Then set up the demo:</a:t>
            </a:r>
          </a:p>
          <a:p>
            <a:r>
              <a:rPr dirty="0"/>
              <a:t>"Speaking of the hands — let's see them."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4 — 100 sec. THE MOST IMPORTANT SLIDE.]</a:t>
            </a:r>
          </a:p>
          <a:p>
            <a:endParaRPr/>
          </a:p>
          <a:p>
            <a:r>
              <a:t>PRE-FLIGHT CHECKLIST (do ALL of this BEFORE walking on stage):</a:t>
            </a:r>
          </a:p>
          <a:p>
            <a:r>
              <a:t>  - Batteries: tablet fully charged; servo power pack fully charged; SPARE batteries in pocket.</a:t>
            </a:r>
          </a:p>
          <a:p>
            <a:r>
              <a:t>  - Power the robot ON and let the hands finish their startup twitch BEFORE the talk.</a:t>
            </a:r>
          </a:p>
          <a:p>
            <a:r>
              <a:t>  - Pair / connect the tablet to the brain and confirm the status says Connected.</a:t>
            </a:r>
          </a:p>
          <a:p>
            <a:r>
              <a:t>  - Do ONE full dry run backstage: "Hey Maxi, what is three plus two?" and watch the fingers.</a:t>
            </a:r>
          </a:p>
          <a:p>
            <a:r>
              <a:t>  - Open the chat screen already; wake word ON (or plan to tap the mic).</a:t>
            </a:r>
          </a:p>
          <a:p>
            <a:r>
              <a:t>  - Clear the table around the hands — nothing for the fingers to catch on.</a:t>
            </a:r>
          </a:p>
          <a:p>
            <a:r>
              <a:t>  - Volume up. Wi-Fi / hotspot confirmed (the brain is in the cloud — no internet, no Maxi).</a:t>
            </a:r>
          </a:p>
          <a:p>
            <a:endParaRPr/>
          </a:p>
          <a:p>
            <a:r>
              <a:t>ON STAGE (calm, slow):</a:t>
            </a:r>
          </a:p>
          <a:p>
            <a:r>
              <a:t>  1. "Hey Maxi." Wait for the face to react and the beep. Do not rush it.</a:t>
            </a:r>
          </a:p>
          <a:p>
            <a:r>
              <a:t>  2. "What is three plus two?" Let it think, speak, and COUNT FIVE ON ITS FINGERS. Stay quiet</a:t>
            </a:r>
          </a:p>
          <a:p>
            <a:r>
              <a:t>     and let the audience watch the hand move — that silence is the whole show.</a:t>
            </a:r>
          </a:p>
          <a:p>
            <a:r>
              <a:t>  3. Then a word: "How do you spell banana?" — it spells it out, letter by letter.</a:t>
            </a:r>
          </a:p>
          <a:p>
            <a:r>
              <a:t>  4. Optional if time: "Tell me a story." Cut it off after one line.</a:t>
            </a:r>
          </a:p>
          <a:p>
            <a:endParaRPr/>
          </a:p>
          <a:p>
            <a:r>
              <a:t>IF IT MISBEHAVES — the recovery, rehearsed:</a:t>
            </a:r>
          </a:p>
          <a:p>
            <a:r>
              <a:t>  Do NOT debug on stage. Say, warmly: "Maxi is being a little shy — here it is working</a:t>
            </a:r>
          </a:p>
          <a:p>
            <a:r>
              <a:t>  earlier," then Alt-Tab / advance to the robot photo and KEEP TALKING. Tap-and-hold Maxi's</a:t>
            </a:r>
          </a:p>
          <a:p>
            <a:r>
              <a:t>  head for 3 seconds to reset it while you speak; if it comes back, try once more. If not,</a:t>
            </a:r>
          </a:p>
          <a:p>
            <a:r>
              <a:t>  move on. Nobody remembers a hiccup; they remember panic. So do not panic.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1 — 30 sec]</a:t>
            </a:r>
          </a:p>
          <a:p>
            <a:r>
              <a:t>You are back. Do NOT read six boxes. Tell TWO as short, real stories:</a:t>
            </a:r>
          </a:p>
          <a:p>
            <a:r>
              <a:t>1. "We trained our own model and could not run it — no compute, no funding. Choosing to</a:t>
            </a:r>
          </a:p>
          <a:p>
            <a:r>
              <a:t>   let that go and use the cloud was the hardest, most grown-up decision we made."</a:t>
            </a:r>
          </a:p>
          <a:p>
            <a:r>
              <a:t>2. "For a whole afternoon, the robot kept interrupting itself — it could hear its own</a:t>
            </a:r>
          </a:p>
          <a:p>
            <a:r>
              <a:t>   voice. The fix was one rule about when it is allowed to listen."</a:t>
            </a:r>
          </a:p>
          <a:p>
            <a:r>
              <a:t>End with the line that ties it together: "The parts that broke taught us more than the</a:t>
            </a:r>
          </a:p>
          <a:p>
            <a:r>
              <a:t>parts that worked."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2 — 30 sec]</a:t>
            </a:r>
          </a:p>
          <a:p>
            <a:r>
              <a:t>Say the left box and mean it: "This is a school project. It needs the internet, it works</a:t>
            </a:r>
          </a:p>
          <a:p>
            <a:r>
              <a:t>with one child, it has no eyes yet, and the brain is a shared cloud model, not our own. It</a:t>
            </a:r>
          </a:p>
          <a:p>
            <a:r>
              <a:t>is a learning aid, not a teacher." Owning that earns you respect.</a:t>
            </a:r>
          </a:p>
          <a:p>
            <a:r>
              <a:t>Then three from the right box, fast — running our own model, giving it eyes, local</a:t>
            </a:r>
          </a:p>
          <a:p>
            <a:r>
              <a:t>languages. Land on the purple line, then advance to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[ALL FOUR SPEAKERS — 20 sec, then Q&amp;A]</a:t>
            </a:r>
          </a:p>
          <a:p>
            <a:r>
              <a:t>Everyone comes to the front. One person says the two lines, then: "We are happy to take</a:t>
            </a:r>
          </a:p>
          <a:p>
            <a:r>
              <a:t>questions." Decide NOW who answers what.</a:t>
            </a:r>
          </a:p>
          <a:p>
            <a:endParaRPr/>
          </a:p>
          <a:p>
            <a:r>
              <a:t>LIKELY QUESTIONS &amp; PREPARED ANSWERS:</a:t>
            </a:r>
          </a:p>
          <a:p>
            <a:r>
              <a:t>Q: "Is Maxi's brain running inside the robot?"</a:t>
            </a:r>
          </a:p>
          <a:p>
            <a:r>
              <a:t>   -&gt; No. The thinking happens on a cloud server; the tablet and Pi talk to it over the</a:t>
            </a:r>
          </a:p>
          <a:p>
            <a:r>
              <a:t>      internet. That is also why it needs a connection.</a:t>
            </a:r>
          </a:p>
          <a:p>
            <a:r>
              <a:t>Q: "You said you trained your own AI — why aren't you using it?"</a:t>
            </a:r>
          </a:p>
          <a:p>
            <a:r>
              <a:t>   -&gt; We trained one, but we did not have the computing power to run it, and no funding to</a:t>
            </a:r>
          </a:p>
          <a:p>
            <a:r>
              <a:t>      buy the hardware. We chose to use a free cloud model and spend our time on the robot.</a:t>
            </a:r>
          </a:p>
          <a:p>
            <a:r>
              <a:t>Q: "How is this different from a talking toy or ChatGPT?"</a:t>
            </a:r>
          </a:p>
          <a:p>
            <a:r>
              <a:t>   -&gt; A toy plays fixed recordings. ChatGPT is just text. Maxi listens, decides, speaks AND</a:t>
            </a:r>
          </a:p>
          <a:p>
            <a:r>
              <a:t>      moves real fingers to teach — and it remembers the child.</a:t>
            </a:r>
          </a:p>
          <a:p>
            <a:r>
              <a:t>Q: "How does it count on its fingers?"</a:t>
            </a:r>
          </a:p>
          <a:p>
            <a:r>
              <a:t>   -&gt; Each finger is a servo motor on a driver board. If a maths answer is ten or less, the</a:t>
            </a:r>
          </a:p>
          <a:p>
            <a:r>
              <a:t>      software opens exactly that many fingers.</a:t>
            </a:r>
          </a:p>
          <a:p>
            <a:r>
              <a:t>Q: "What was the hardest part?"</a:t>
            </a:r>
          </a:p>
          <a:p>
            <a:r>
              <a:t>   -&gt; (your real answer) Letting go of our own model; and the day the robot kept</a:t>
            </a:r>
          </a:p>
          <a:p>
            <a:r>
              <a:t>      interrupting itself because it could hear its own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911"/>
              </a:gs>
              <a:gs pos="100000">
                <a:srgbClr val="0D14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43779" y="-822960"/>
            <a:ext cx="4389120" cy="4389120"/>
          </a:xfrm>
          <a:prstGeom prst="ellipse">
            <a:avLst/>
          </a:prstGeom>
          <a:solidFill>
            <a:srgbClr val="8B7FF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02629" y="3154680"/>
            <a:ext cx="4389120" cy="438912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510872" y="3977640"/>
            <a:ext cx="4389120" cy="4389120"/>
          </a:xfrm>
          <a:prstGeom prst="ellipse">
            <a:avLst/>
          </a:prstGeom>
          <a:solidFill>
            <a:srgbClr val="F472B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Segoe UI Semibold"/>
              </a:rPr>
              <a:t>MEET  MAXI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852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0" b="1" i="0">
                <a:solidFill>
                  <a:srgbClr val="F3F7FF"/>
                </a:solidFill>
                <a:latin typeface="Segoe UI Semibold"/>
              </a:rPr>
              <a:t>Maxi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5669280" cy="6692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 i="0" dirty="0">
                <a:solidFill>
                  <a:srgbClr val="22D3EE"/>
                </a:solidFill>
                <a:latin typeface="Segoe UI"/>
              </a:rPr>
              <a:t>A robot that listens, talks back,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 i="0" dirty="0">
                <a:solidFill>
                  <a:srgbClr val="22D3EE"/>
                </a:solidFill>
                <a:latin typeface="Segoe UI"/>
              </a:rPr>
              <a:t>and teaches a child </a:t>
            </a:r>
            <a:r>
              <a:rPr lang="en-US" sz="1900" dirty="0">
                <a:solidFill>
                  <a:srgbClr val="22D3EE"/>
                </a:solidFill>
                <a:latin typeface="Segoe UI"/>
              </a:rPr>
              <a:t>using</a:t>
            </a:r>
            <a:r>
              <a:rPr sz="1900" b="0" i="0" dirty="0">
                <a:solidFill>
                  <a:srgbClr val="22D3EE"/>
                </a:solidFill>
                <a:latin typeface="Segoe UI"/>
              </a:rPr>
              <a:t> its fingers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3A5C0"/>
                </a:solidFill>
                <a:latin typeface="Segoe UI"/>
              </a:rPr>
              <a:t>Tablet face  ·  cloud brain  ·  two robotic hands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5262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2D3EE"/>
                </a:solidFill>
                <a:latin typeface="Segoe UI Semibold"/>
              </a:rPr>
              <a:t>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37944" y="452628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8B7FF5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8B7FF5"/>
                </a:solidFill>
                <a:latin typeface="Segoe UI Semibold"/>
              </a:rPr>
              <a:t>Flask + Socket.IO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45262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DF59B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DF59B"/>
                </a:solidFill>
                <a:latin typeface="Segoe UI Semibold"/>
              </a:rPr>
              <a:t>Groq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82312" y="452628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72B6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472B6"/>
                </a:solidFill>
                <a:latin typeface="Segoe UI Semibold"/>
              </a:rPr>
              <a:t>Raspberry 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2080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93A5C0"/>
                </a:solidFill>
                <a:latin typeface="Segoe UI"/>
              </a:rPr>
              <a:t>6-Month Coding Bootcamp  ·  Secondary School Cohort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93A5C0"/>
                </a:solidFill>
                <a:latin typeface="Segoe UI"/>
              </a:rPr>
              <a:t>Presented by Student One, Student Two, Student Three, Student Four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93A5C0"/>
                </a:solidFill>
                <a:latin typeface="Segoe UI"/>
              </a:rPr>
              <a:t>4 August 2026</a:t>
            </a:r>
          </a:p>
        </p:txBody>
      </p:sp>
      <p:pic>
        <p:nvPicPr>
          <p:cNvPr id="16" name="Picture 15" descr="robo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432" y="107256"/>
            <a:ext cx="3812492" cy="72835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911"/>
              </a:gs>
              <a:gs pos="100000">
                <a:srgbClr val="0D14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43889" y="-1234440"/>
            <a:ext cx="4389120" cy="4389120"/>
          </a:xfrm>
          <a:prstGeom prst="ellipse">
            <a:avLst/>
          </a:prstGeom>
          <a:solidFill>
            <a:srgbClr val="8B7FF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34131" y="3429000"/>
            <a:ext cx="4389120" cy="438912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20624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2D3EE"/>
                </a:solidFill>
                <a:latin typeface="Segoe UI Semibold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3F7FF"/>
                </a:solidFill>
                <a:latin typeface="Segoe UI Semibold"/>
              </a:rPr>
              <a:t>How the next 10 minutes go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371600" cy="41148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Maxi  ·  6-Month Coding Bootcamp  ·  4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11064240" cy="713232"/>
          </a:xfrm>
          <a:prstGeom prst="roundRect">
            <a:avLst>
              <a:gd name="adj" fmla="val 5500"/>
            </a:avLst>
          </a:prstGeom>
          <a:solidFill>
            <a:srgbClr val="121A28">
              <a:alpha val="82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1837944"/>
            <a:ext cx="438912" cy="438912"/>
          </a:xfrm>
          <a:prstGeom prst="ellipse">
            <a:avLst/>
          </a:prstGeom>
          <a:solidFill>
            <a:srgbClr val="8B7FF5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9909" y="1890613"/>
            <a:ext cx="333574" cy="333574"/>
          </a:xfrm>
          <a:prstGeom prst="ellipse">
            <a:avLst/>
          </a:prstGeom>
          <a:solidFill>
            <a:srgbClr val="8B7FF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>
                <a:solidFill>
                  <a:srgbClr val="F3F7FF"/>
                </a:solidFill>
                <a:latin typeface="Segoe UI Emoji"/>
              </a:rPr>
              <a:t>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81965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3F7FF"/>
                </a:solidFill>
                <a:latin typeface="Segoe UI Semibold"/>
              </a:rPr>
              <a:t>Meet Maxi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093976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What it is and why we built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929384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B7FF5"/>
                </a:solidFill>
                <a:latin typeface="Segoe UI Semibold"/>
              </a:rPr>
              <a:t>Student 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69880" y="19202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8B7FF5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8B7FF5"/>
                </a:solidFill>
                <a:latin typeface="Segoe UI Semibold"/>
              </a:rPr>
              <a:t>2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523744"/>
            <a:ext cx="11064240" cy="713232"/>
          </a:xfrm>
          <a:prstGeom prst="roundRect">
            <a:avLst>
              <a:gd name="adj" fmla="val 5500"/>
            </a:avLst>
          </a:prstGeom>
          <a:solidFill>
            <a:srgbClr val="121A28">
              <a:alpha val="82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77240" y="2660904"/>
            <a:ext cx="438912" cy="438912"/>
          </a:xfrm>
          <a:prstGeom prst="ellipse">
            <a:avLst/>
          </a:prstGeom>
          <a:solidFill>
            <a:srgbClr val="22D3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9909" y="2713573"/>
            <a:ext cx="333574" cy="333574"/>
          </a:xfrm>
          <a:prstGeom prst="ellipse">
            <a:avLst/>
          </a:prstGeom>
          <a:solidFill>
            <a:srgbClr val="22D3EE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>
                <a:solidFill>
                  <a:srgbClr val="F3F7FF"/>
                </a:solidFill>
                <a:latin typeface="Segoe UI Emoji"/>
              </a:rPr>
              <a:t>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6426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3F7FF"/>
                </a:solidFill>
                <a:latin typeface="Segoe UI Semibold"/>
              </a:rPr>
              <a:t>The build &amp; the brain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916936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Hands, board, and the cloud that thinks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752344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egoe UI Semibold"/>
              </a:rPr>
              <a:t>Student Two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69880" y="274320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2D3EE"/>
                </a:solidFill>
                <a:latin typeface="Segoe UI Semibold"/>
              </a:rPr>
              <a:t>2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346704"/>
            <a:ext cx="11064240" cy="713232"/>
          </a:xfrm>
          <a:prstGeom prst="roundRect">
            <a:avLst>
              <a:gd name="adj" fmla="val 5500"/>
            </a:avLst>
          </a:prstGeom>
          <a:solidFill>
            <a:srgbClr val="121A28">
              <a:alpha val="82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77240" y="3483864"/>
            <a:ext cx="438912" cy="438912"/>
          </a:xfrm>
          <a:prstGeom prst="ellipse">
            <a:avLst/>
          </a:prstGeom>
          <a:solidFill>
            <a:srgbClr val="2DF59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9909" y="3536533"/>
            <a:ext cx="333574" cy="333574"/>
          </a:xfrm>
          <a:prstGeom prst="ellipse">
            <a:avLst/>
          </a:prstGeom>
          <a:solidFill>
            <a:srgbClr val="2DF59B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>
                <a:solidFill>
                  <a:srgbClr val="F3F7FF"/>
                </a:solidFill>
                <a:latin typeface="Segoe UI Emoji"/>
              </a:rPr>
              <a:t>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4655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3F7FF"/>
                </a:solidFill>
                <a:latin typeface="Segoe UI Semibold"/>
              </a:rPr>
              <a:t>How it thinks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739896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The state machine, the code, the wiring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575304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DF59B"/>
                </a:solidFill>
                <a:latin typeface="Segoe UI Semibold"/>
              </a:rPr>
              <a:t>Student Three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69880" y="35661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DF59B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DF59B"/>
                </a:solidFill>
                <a:latin typeface="Segoe UI Semibold"/>
              </a:rPr>
              <a:t>2 min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169664"/>
            <a:ext cx="11064240" cy="713232"/>
          </a:xfrm>
          <a:prstGeom prst="roundRect">
            <a:avLst>
              <a:gd name="adj" fmla="val 5500"/>
            </a:avLst>
          </a:prstGeom>
          <a:solidFill>
            <a:srgbClr val="121A28">
              <a:alpha val="82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77240" y="4306824"/>
            <a:ext cx="438912" cy="438912"/>
          </a:xfrm>
          <a:prstGeom prst="ellipse">
            <a:avLst/>
          </a:prstGeom>
          <a:solidFill>
            <a:srgbClr val="F472B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9909" y="4359493"/>
            <a:ext cx="333574" cy="333574"/>
          </a:xfrm>
          <a:prstGeom prst="ellipse">
            <a:avLst/>
          </a:prstGeom>
          <a:solidFill>
            <a:srgbClr val="F472B6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>
                <a:solidFill>
                  <a:srgbClr val="F3F7FF"/>
                </a:solidFill>
                <a:latin typeface="Segoe UI Emoji"/>
              </a:rPr>
              <a:t>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28853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3F7FF"/>
                </a:solidFill>
                <a:latin typeface="Segoe UI Semibold"/>
              </a:rPr>
              <a:t>Live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562856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We talk to Maxi and its fingers move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4398264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472B6"/>
                </a:solidFill>
                <a:latin typeface="Segoe UI Semibold"/>
              </a:rPr>
              <a:t>Student Four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69880" y="43891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472B6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472B6"/>
                </a:solidFill>
                <a:latin typeface="Segoe UI Semibold"/>
              </a:rPr>
              <a:t>3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992624"/>
            <a:ext cx="11064240" cy="713232"/>
          </a:xfrm>
          <a:prstGeom prst="roundRect">
            <a:avLst>
              <a:gd name="adj" fmla="val 5500"/>
            </a:avLst>
          </a:prstGeom>
          <a:solidFill>
            <a:srgbClr val="121A28">
              <a:alpha val="82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77240" y="5129784"/>
            <a:ext cx="438912" cy="438912"/>
          </a:xfrm>
          <a:prstGeom prst="ellipse">
            <a:avLst/>
          </a:prstGeom>
          <a:solidFill>
            <a:srgbClr val="FBBF2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29909" y="5182453"/>
            <a:ext cx="333574" cy="333574"/>
          </a:xfrm>
          <a:prstGeom prst="ellipse">
            <a:avLst/>
          </a:prstGeom>
          <a:solidFill>
            <a:srgbClr val="FBBF24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>
                <a:solidFill>
                  <a:srgbClr val="F3F7FF"/>
                </a:solidFill>
                <a:latin typeface="Segoe UI Emoji"/>
              </a:rPr>
              <a:t>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11149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3F7FF"/>
                </a:solidFill>
                <a:latin typeface="Segoe UI Semibold"/>
              </a:rPr>
              <a:t>Lessons &amp; limits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385816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What broke, what we learned, what's next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5221224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 Semibold"/>
              </a:rPr>
              <a:t>Student One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69880" y="521208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BBF24"/>
                </a:solidFill>
                <a:latin typeface="Segoe UI Semibold"/>
              </a:rPr>
              <a:t>1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9436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93A5C0"/>
                </a:solidFill>
                <a:latin typeface="Segoe UI"/>
              </a:rPr>
              <a:t>We each built a different part, so we will each explain our own part.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911"/>
              </a:gs>
              <a:gs pos="100000">
                <a:srgbClr val="0D14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65806" y="-822960"/>
            <a:ext cx="4389120" cy="4389120"/>
          </a:xfrm>
          <a:prstGeom prst="ellipse">
            <a:avLst/>
          </a:prstGeom>
          <a:solidFill>
            <a:srgbClr val="F87171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68380" y="3291840"/>
            <a:ext cx="4389120" cy="4389120"/>
          </a:xfrm>
          <a:prstGeom prst="ellipse">
            <a:avLst/>
          </a:prstGeom>
          <a:solidFill>
            <a:srgbClr val="8B7FF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F87171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20624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87171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87171"/>
                </a:solidFill>
                <a:latin typeface="Segoe UI Semibold"/>
              </a:rPr>
              <a:t>01 ·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1042416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 dirty="0">
                <a:solidFill>
                  <a:srgbClr val="F3F7FF"/>
                </a:solidFill>
                <a:latin typeface="Segoe UI Semibold"/>
              </a:rPr>
              <a:t>One teacher, a whole classroom of </a:t>
            </a:r>
            <a:r>
              <a:rPr lang="en-US" sz="3400" b="1" i="0" dirty="0">
                <a:solidFill>
                  <a:srgbClr val="F3F7FF"/>
                </a:solidFill>
                <a:latin typeface="Segoe UI Semibold"/>
              </a:rPr>
              <a:t>students</a:t>
            </a:r>
            <a:endParaRPr sz="3400" b="1" i="0" dirty="0">
              <a:solidFill>
                <a:srgbClr val="F3F7FF"/>
              </a:solidFill>
              <a:latin typeface="Segoe UI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371600" cy="41148"/>
          </a:xfrm>
          <a:prstGeom prst="rect">
            <a:avLst/>
          </a:prstGeom>
          <a:solidFill>
            <a:srgbClr val="F8717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Maxi  ·  6-Month Coding Bootcamp  ·  4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3529584" cy="278892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6112" y="2066544"/>
            <a:ext cx="658368" cy="658368"/>
          </a:xfrm>
          <a:prstGeom prst="ellipse">
            <a:avLst/>
          </a:prstGeom>
          <a:solidFill>
            <a:srgbClr val="8B7FF5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5116" y="2145548"/>
            <a:ext cx="500360" cy="500360"/>
          </a:xfrm>
          <a:prstGeom prst="ellipse">
            <a:avLst/>
          </a:prstGeom>
          <a:solidFill>
            <a:srgbClr val="8B7FF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100">
                <a:solidFill>
                  <a:srgbClr val="F3F7FF"/>
                </a:solidFill>
                <a:latin typeface="Segoe UI Emoji"/>
              </a:rPr>
              <a:t>👩‍🏫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98094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3F7FF"/>
                </a:solidFill>
                <a:latin typeface="Segoe UI Semibold"/>
              </a:rPr>
              <a:t>Not enough one-on-one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01568"/>
            <a:ext cx="2971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 dirty="0">
                <a:solidFill>
                  <a:srgbClr val="93A5C0"/>
                </a:solidFill>
                <a:latin typeface="Segoe UI"/>
              </a:rPr>
              <a:t>In a big class, a </a:t>
            </a:r>
            <a:r>
              <a:rPr lang="en-US" sz="1200" b="0" i="0" dirty="0">
                <a:solidFill>
                  <a:srgbClr val="93A5C0"/>
                </a:solidFill>
                <a:latin typeface="Segoe UI"/>
              </a:rPr>
              <a:t>child</a:t>
            </a:r>
            <a:r>
              <a:rPr sz="1200" b="0" i="0" dirty="0">
                <a:solidFill>
                  <a:srgbClr val="93A5C0"/>
                </a:solidFill>
                <a:latin typeface="Segoe UI"/>
              </a:rPr>
              <a:t> who is stuck rarely gets a patient, private explanation. The quiet ones fall behind first.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1700784"/>
            <a:ext cx="3529584" cy="278892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90288" y="2066544"/>
            <a:ext cx="658368" cy="658368"/>
          </a:xfrm>
          <a:prstGeom prst="ellipse">
            <a:avLst/>
          </a:prstGeom>
          <a:solidFill>
            <a:srgbClr val="22D3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69292" y="2145548"/>
            <a:ext cx="500360" cy="500360"/>
          </a:xfrm>
          <a:prstGeom prst="ellipse">
            <a:avLst/>
          </a:prstGeom>
          <a:solidFill>
            <a:srgbClr val="22D3EE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100">
                <a:solidFill>
                  <a:srgbClr val="F3F7FF"/>
                </a:solidFill>
                <a:latin typeface="Segoe UI Emoji"/>
              </a:rPr>
              <a:t>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98094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3F7FF"/>
                </a:solidFill>
                <a:latin typeface="Segoe UI Semibold"/>
              </a:rPr>
              <a:t>Learning is physical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401568"/>
            <a:ext cx="2971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93A5C0"/>
                </a:solidFill>
                <a:latin typeface="Segoe UI"/>
              </a:rPr>
              <a:t>A six-year-old understands "three" by seeing three fingers, not by reading it. Numbers need to be shown, not just said.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1700784"/>
            <a:ext cx="3529584" cy="278892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84464" y="2066544"/>
            <a:ext cx="658368" cy="658368"/>
          </a:xfrm>
          <a:prstGeom prst="ellipse">
            <a:avLst/>
          </a:prstGeom>
          <a:solidFill>
            <a:srgbClr val="FBBF2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63468" y="2145548"/>
            <a:ext cx="500360" cy="500360"/>
          </a:xfrm>
          <a:prstGeom prst="ellipse">
            <a:avLst/>
          </a:prstGeom>
          <a:solidFill>
            <a:srgbClr val="FBBF24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100">
                <a:solidFill>
                  <a:srgbClr val="F3F7FF"/>
                </a:solidFill>
                <a:latin typeface="Segoe UI Emoji"/>
              </a:rPr>
              <a:t>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98094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3F7FF"/>
                </a:solidFill>
                <a:latin typeface="Segoe UI Semibold"/>
              </a:rPr>
              <a:t>A robot never gets tired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3401568"/>
            <a:ext cx="2971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93A5C0"/>
                </a:solidFill>
                <a:latin typeface="Segoe UI"/>
              </a:rPr>
              <a:t>A child can ask the same question ten times. A patient machine answers the tenth time exactly like the first.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956048"/>
            <a:ext cx="11064240" cy="1234440"/>
          </a:xfrm>
          <a:prstGeom prst="roundRect">
            <a:avLst>
              <a:gd name="adj" fmla="val 5500"/>
            </a:avLst>
          </a:prstGeom>
          <a:solidFill>
            <a:srgbClr val="182233">
              <a:alpha val="88000"/>
            </a:srgbClr>
          </a:solidFill>
          <a:ln w="12700">
            <a:solidFill>
              <a:srgbClr val="8B7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68680" y="5212080"/>
            <a:ext cx="530352" cy="530352"/>
          </a:xfrm>
          <a:prstGeom prst="ellipse">
            <a:avLst/>
          </a:prstGeom>
          <a:solidFill>
            <a:srgbClr val="8B7FF5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32322" y="5275722"/>
            <a:ext cx="403068" cy="403068"/>
          </a:xfrm>
          <a:prstGeom prst="ellipse">
            <a:avLst/>
          </a:prstGeom>
          <a:solidFill>
            <a:srgbClr val="8B7FF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>
                <a:solidFill>
                  <a:srgbClr val="F3F7FF"/>
                </a:solidFill>
                <a:latin typeface="Segoe UI Emoji"/>
              </a:rPr>
              <a:t>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5230368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8B7FF5"/>
                </a:solidFill>
                <a:latin typeface="Segoe UI Semibold"/>
              </a:rPr>
              <a:t>Our question: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F3F7FF"/>
                </a:solidFill>
                <a:latin typeface="Segoe UI"/>
              </a:rPr>
              <a:t>could we build a friendly robot that listens, talks back, and teaches a child patiently — one-on-one — using its own hands?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911"/>
              </a:gs>
              <a:gs pos="100000">
                <a:srgbClr val="0D14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43889" y="-1234440"/>
            <a:ext cx="4389120" cy="4389120"/>
          </a:xfrm>
          <a:prstGeom prst="ellipse">
            <a:avLst/>
          </a:prstGeom>
          <a:solidFill>
            <a:srgbClr val="8B7FF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34131" y="3429000"/>
            <a:ext cx="4389120" cy="438912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2DF59B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20624"/>
            <a:ext cx="2359152" cy="274320"/>
          </a:xfrm>
          <a:prstGeom prst="roundRect">
            <a:avLst>
              <a:gd name="adj" fmla="val 50000"/>
            </a:avLst>
          </a:prstGeom>
          <a:solidFill>
            <a:srgbClr val="2DF59B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DF59B"/>
                </a:solidFill>
                <a:latin typeface="Segoe UI Semibold"/>
              </a:rPr>
              <a:t>02 · MEET MAXI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 dirty="0">
                <a:solidFill>
                  <a:srgbClr val="F3F7FF"/>
                </a:solidFill>
                <a:latin typeface="Segoe UI Semibold"/>
              </a:rPr>
              <a:t>One loop: sense → think → 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3A5C0"/>
                </a:solidFill>
                <a:latin typeface="Segoe UI"/>
              </a:rPr>
              <a:t>Everything Maxi does is this loop, running over and over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1371600" cy="41148"/>
          </a:xfrm>
          <a:prstGeom prst="rect">
            <a:avLst/>
          </a:prstGeom>
          <a:solidFill>
            <a:srgbClr val="2DF59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Maxi  ·  6-Month Coding Bootcamp  ·  4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066544"/>
            <a:ext cx="3529584" cy="288036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6112" y="2414016"/>
            <a:ext cx="731520" cy="731520"/>
          </a:xfrm>
          <a:prstGeom prst="ellipse">
            <a:avLst/>
          </a:prstGeom>
          <a:solidFill>
            <a:srgbClr val="22D3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83894" y="2501798"/>
            <a:ext cx="555956" cy="555956"/>
          </a:xfrm>
          <a:prstGeom prst="ellipse">
            <a:avLst/>
          </a:prstGeom>
          <a:solidFill>
            <a:srgbClr val="22D3EE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>
                <a:solidFill>
                  <a:srgbClr val="F3F7FF"/>
                </a:solidFill>
                <a:latin typeface="Segoe UI Emoji"/>
              </a:rPr>
              <a:t>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65376" y="263347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2D3EE"/>
                </a:solidFill>
                <a:latin typeface="Segoe UI Semibold"/>
              </a:rPr>
              <a:t>SENSE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36499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2D3EE"/>
                </a:solidFill>
                <a:latin typeface="Segoe UI Semibold"/>
              </a:rPr>
              <a:t>It hears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803904"/>
            <a:ext cx="2971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93A5C0"/>
                </a:solidFill>
                <a:latin typeface="Segoe UI"/>
              </a:rPr>
              <a:t>The tablet microphone catches the child's voice and the wake word "Hey Maxi".</a:t>
            </a:r>
          </a:p>
        </p:txBody>
      </p:sp>
      <p:sp>
        <p:nvSpPr>
          <p:cNvPr id="18" name="Chevron 17"/>
          <p:cNvSpPr/>
          <p:nvPr/>
        </p:nvSpPr>
        <p:spPr>
          <a:xfrm>
            <a:off x="4075936" y="3300984"/>
            <a:ext cx="219456" cy="310896"/>
          </a:xfrm>
          <a:prstGeom prst="chevron">
            <a:avLst/>
          </a:prstGeom>
          <a:solidFill>
            <a:srgbClr val="27375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61104" y="2066544"/>
            <a:ext cx="3529584" cy="288036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90288" y="2414016"/>
            <a:ext cx="731520" cy="731520"/>
          </a:xfrm>
          <a:prstGeom prst="ellipse">
            <a:avLst/>
          </a:prstGeom>
          <a:solidFill>
            <a:srgbClr val="8B7FF5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78070" y="2501798"/>
            <a:ext cx="555956" cy="555956"/>
          </a:xfrm>
          <a:prstGeom prst="ellipse">
            <a:avLst/>
          </a:prstGeom>
          <a:solidFill>
            <a:srgbClr val="8B7FF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>
                <a:solidFill>
                  <a:srgbClr val="F3F7FF"/>
                </a:solidFill>
                <a:latin typeface="Segoe UI Emoji"/>
              </a:rPr>
              <a:t>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9552" y="263347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8B7FF5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8B7FF5"/>
                </a:solidFill>
                <a:latin typeface="Segoe UI Semibold"/>
              </a:rPr>
              <a:t>THINK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36499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8B7FF5"/>
                </a:solidFill>
                <a:latin typeface="Segoe UI Semibold"/>
              </a:rPr>
              <a:t>It understands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803904"/>
            <a:ext cx="2971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93A5C0"/>
                </a:solidFill>
                <a:latin typeface="Segoe UI"/>
              </a:rPr>
              <a:t>A cloud brain turns speech into an answer — chat, a maths step, a story — and decides what to do.</a:t>
            </a:r>
          </a:p>
        </p:txBody>
      </p:sp>
      <p:sp>
        <p:nvSpPr>
          <p:cNvPr id="25" name="Chevron 24"/>
          <p:cNvSpPr/>
          <p:nvPr/>
        </p:nvSpPr>
        <p:spPr>
          <a:xfrm>
            <a:off x="7770112" y="3300984"/>
            <a:ext cx="219456" cy="310896"/>
          </a:xfrm>
          <a:prstGeom prst="chevron">
            <a:avLst/>
          </a:prstGeom>
          <a:solidFill>
            <a:srgbClr val="27375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955280" y="2066544"/>
            <a:ext cx="3529584" cy="288036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84464" y="2414016"/>
            <a:ext cx="731520" cy="731520"/>
          </a:xfrm>
          <a:prstGeom prst="ellipse">
            <a:avLst/>
          </a:prstGeom>
          <a:solidFill>
            <a:srgbClr val="2DF59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372246" y="2501798"/>
            <a:ext cx="555956" cy="555956"/>
          </a:xfrm>
          <a:prstGeom prst="ellipse">
            <a:avLst/>
          </a:prstGeom>
          <a:solidFill>
            <a:srgbClr val="2DF59B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>
                <a:solidFill>
                  <a:srgbClr val="F3F7FF"/>
                </a:solidFill>
                <a:latin typeface="Segoe UI Emoji"/>
              </a:rPr>
              <a:t>🗣️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53728" y="263347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DF59B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DF59B"/>
                </a:solidFill>
                <a:latin typeface="Segoe UI Semibold"/>
              </a:rPr>
              <a:t>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336499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DF59B"/>
                </a:solidFill>
                <a:latin typeface="Segoe UI Semibold"/>
              </a:rPr>
              <a:t>It responds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3803904"/>
            <a:ext cx="2971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93A5C0"/>
                </a:solidFill>
                <a:latin typeface="Segoe UI"/>
              </a:rPr>
              <a:t>Maxi talks back in a warm voice, moves its 12 finger servos, and shows a feeling on its face.</a:t>
            </a:r>
          </a:p>
        </p:txBody>
      </p:sp>
      <p:sp>
        <p:nvSpPr>
          <p:cNvPr id="33" name="Oval 32"/>
          <p:cNvSpPr/>
          <p:nvPr/>
        </p:nvSpPr>
        <p:spPr>
          <a:xfrm>
            <a:off x="786384" y="5138928"/>
            <a:ext cx="457200" cy="457200"/>
          </a:xfrm>
          <a:prstGeom prst="ellipse">
            <a:avLst/>
          </a:prstGeom>
          <a:solidFill>
            <a:srgbClr val="22D3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0A4149A-B501-D936-70DC-B9970DF76AB5}"/>
              </a:ext>
            </a:extLst>
          </p:cNvPr>
          <p:cNvGrpSpPr/>
          <p:nvPr/>
        </p:nvGrpSpPr>
        <p:grpSpPr>
          <a:xfrm>
            <a:off x="560967" y="5097780"/>
            <a:ext cx="2651760" cy="1051560"/>
            <a:chOff x="566928" y="4956048"/>
            <a:chExt cx="2651760" cy="1051560"/>
          </a:xfrm>
        </p:grpSpPr>
        <p:sp>
          <p:nvSpPr>
            <p:cNvPr id="32" name="Rounded Rectangle 31"/>
            <p:cNvSpPr/>
            <p:nvPr/>
          </p:nvSpPr>
          <p:spPr>
            <a:xfrm>
              <a:off x="566928" y="4956048"/>
              <a:ext cx="2651760" cy="1051560"/>
            </a:xfrm>
            <a:prstGeom prst="roundRect">
              <a:avLst>
                <a:gd name="adj" fmla="val 5500"/>
              </a:avLst>
            </a:prstGeom>
            <a:solidFill>
              <a:srgbClr val="182233">
                <a:alpha val="84000"/>
              </a:srgbClr>
            </a:solidFill>
            <a:ln w="12700">
              <a:solidFill>
                <a:srgbClr val="2737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>
            <a:xfrm>
              <a:off x="841248" y="5193792"/>
              <a:ext cx="347472" cy="347472"/>
            </a:xfrm>
            <a:prstGeom prst="ellipse">
              <a:avLst/>
            </a:prstGeom>
            <a:solidFill>
              <a:srgbClr val="22D3EE">
                <a:alpha val="3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500">
                  <a:solidFill>
                    <a:srgbClr val="F3F7FF"/>
                  </a:solidFill>
                  <a:latin typeface="Segoe UI Emoji"/>
                </a:rPr>
                <a:t>📱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353312" y="5120640"/>
              <a:ext cx="178308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50" b="1" i="0">
                  <a:solidFill>
                    <a:srgbClr val="22D3EE"/>
                  </a:solidFill>
                  <a:latin typeface="Segoe UI Semibold"/>
                </a:rPr>
                <a:t>Android tablet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353312" y="5413248"/>
              <a:ext cx="178308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000" b="0" i="0" dirty="0">
                  <a:solidFill>
                    <a:srgbClr val="93A5C0"/>
                  </a:solidFill>
                  <a:latin typeface="Segoe UI"/>
                </a:rPr>
                <a:t>face, voice &amp; ears</a:t>
              </a:r>
            </a:p>
          </p:txBody>
        </p:sp>
      </p:grpSp>
      <p:sp>
        <p:nvSpPr>
          <p:cNvPr id="38" name="Oval 37"/>
          <p:cNvSpPr/>
          <p:nvPr/>
        </p:nvSpPr>
        <p:spPr>
          <a:xfrm>
            <a:off x="3584448" y="5138928"/>
            <a:ext cx="457200" cy="457200"/>
          </a:xfrm>
          <a:prstGeom prst="ellipse">
            <a:avLst/>
          </a:prstGeom>
          <a:solidFill>
            <a:srgbClr val="8B7FF5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B029B48-CB69-B2D8-6C9E-3346FF35B7D6}"/>
              </a:ext>
            </a:extLst>
          </p:cNvPr>
          <p:cNvGrpSpPr/>
          <p:nvPr/>
        </p:nvGrpSpPr>
        <p:grpSpPr>
          <a:xfrm>
            <a:off x="3374320" y="5116068"/>
            <a:ext cx="2651760" cy="1051560"/>
            <a:chOff x="3364992" y="4956048"/>
            <a:chExt cx="2651760" cy="1051560"/>
          </a:xfrm>
        </p:grpSpPr>
        <p:sp>
          <p:nvSpPr>
            <p:cNvPr id="37" name="Rounded Rectangle 36"/>
            <p:cNvSpPr/>
            <p:nvPr/>
          </p:nvSpPr>
          <p:spPr>
            <a:xfrm>
              <a:off x="3364992" y="4956048"/>
              <a:ext cx="2651760" cy="1051560"/>
            </a:xfrm>
            <a:prstGeom prst="roundRect">
              <a:avLst>
                <a:gd name="adj" fmla="val 5500"/>
              </a:avLst>
            </a:prstGeom>
            <a:solidFill>
              <a:srgbClr val="182233">
                <a:alpha val="84000"/>
              </a:srgbClr>
            </a:solidFill>
            <a:ln w="12700">
              <a:solidFill>
                <a:srgbClr val="2737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9" name="Oval 38"/>
            <p:cNvSpPr/>
            <p:nvPr/>
          </p:nvSpPr>
          <p:spPr>
            <a:xfrm>
              <a:off x="3639312" y="5193792"/>
              <a:ext cx="347472" cy="347472"/>
            </a:xfrm>
            <a:prstGeom prst="ellipse">
              <a:avLst/>
            </a:prstGeom>
            <a:solidFill>
              <a:srgbClr val="8B7FF5">
                <a:alpha val="3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500">
                  <a:solidFill>
                    <a:srgbClr val="F3F7FF"/>
                  </a:solidFill>
                  <a:latin typeface="Segoe UI Emoji"/>
                </a:rPr>
                <a:t>🤲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151376" y="5120640"/>
              <a:ext cx="178308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50" b="1" i="0">
                  <a:solidFill>
                    <a:srgbClr val="8B7FF5"/>
                  </a:solidFill>
                  <a:latin typeface="Segoe UI Semibold"/>
                </a:rPr>
                <a:t>Two robotic hands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151376" y="5413248"/>
              <a:ext cx="178308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000" b="0" i="0">
                  <a:solidFill>
                    <a:srgbClr val="93A5C0"/>
                  </a:solidFill>
                  <a:latin typeface="Segoe UI"/>
                </a:rPr>
                <a:t>12 servos, 10 fingers + 2 wrists</a:t>
              </a:r>
            </a:p>
          </p:txBody>
        </p:sp>
      </p:grpSp>
      <p:sp>
        <p:nvSpPr>
          <p:cNvPr id="43" name="Oval 42"/>
          <p:cNvSpPr/>
          <p:nvPr/>
        </p:nvSpPr>
        <p:spPr>
          <a:xfrm>
            <a:off x="6382512" y="5138928"/>
            <a:ext cx="457200" cy="457200"/>
          </a:xfrm>
          <a:prstGeom prst="ellipse">
            <a:avLst/>
          </a:prstGeom>
          <a:solidFill>
            <a:srgbClr val="F472B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C1EEC2D-8DBE-C9F4-EB3D-4CDB83F643E9}"/>
              </a:ext>
            </a:extLst>
          </p:cNvPr>
          <p:cNvGrpSpPr/>
          <p:nvPr/>
        </p:nvGrpSpPr>
        <p:grpSpPr>
          <a:xfrm>
            <a:off x="6218859" y="5116068"/>
            <a:ext cx="2651760" cy="1051560"/>
            <a:chOff x="6163056" y="4956048"/>
            <a:chExt cx="2651760" cy="1051560"/>
          </a:xfrm>
        </p:grpSpPr>
        <p:sp>
          <p:nvSpPr>
            <p:cNvPr id="42" name="Rounded Rectangle 41"/>
            <p:cNvSpPr/>
            <p:nvPr/>
          </p:nvSpPr>
          <p:spPr>
            <a:xfrm>
              <a:off x="6163056" y="4956048"/>
              <a:ext cx="2651760" cy="1051560"/>
            </a:xfrm>
            <a:prstGeom prst="roundRect">
              <a:avLst>
                <a:gd name="adj" fmla="val 5500"/>
              </a:avLst>
            </a:prstGeom>
            <a:solidFill>
              <a:srgbClr val="182233">
                <a:alpha val="84000"/>
              </a:srgbClr>
            </a:solidFill>
            <a:ln w="12700">
              <a:solidFill>
                <a:srgbClr val="2737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44" name="Oval 43"/>
            <p:cNvSpPr/>
            <p:nvPr/>
          </p:nvSpPr>
          <p:spPr>
            <a:xfrm>
              <a:off x="6437376" y="5193792"/>
              <a:ext cx="347472" cy="347472"/>
            </a:xfrm>
            <a:prstGeom prst="ellipse">
              <a:avLst/>
            </a:prstGeom>
            <a:solidFill>
              <a:srgbClr val="F472B6">
                <a:alpha val="3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500">
                  <a:solidFill>
                    <a:srgbClr val="F3F7FF"/>
                  </a:solidFill>
                  <a:latin typeface="Segoe UI Emoji"/>
                </a:rPr>
                <a:t>🍓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949440" y="5120640"/>
              <a:ext cx="178308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50" b="1" i="0">
                  <a:solidFill>
                    <a:srgbClr val="F472B6"/>
                  </a:solidFill>
                  <a:latin typeface="Segoe UI Semibold"/>
                </a:rPr>
                <a:t>Raspberry Pi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949440" y="5413248"/>
              <a:ext cx="178308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000" b="0" i="0">
                  <a:solidFill>
                    <a:srgbClr val="93A5C0"/>
                  </a:solidFill>
                  <a:latin typeface="Segoe UI"/>
                </a:rPr>
                <a:t>drives the hands</a:t>
              </a:r>
            </a:p>
          </p:txBody>
        </p:sp>
      </p:grpSp>
      <p:sp>
        <p:nvSpPr>
          <p:cNvPr id="48" name="Oval 47"/>
          <p:cNvSpPr/>
          <p:nvPr/>
        </p:nvSpPr>
        <p:spPr>
          <a:xfrm>
            <a:off x="9180576" y="5138928"/>
            <a:ext cx="457200" cy="457200"/>
          </a:xfrm>
          <a:prstGeom prst="ellipse">
            <a:avLst/>
          </a:prstGeom>
          <a:solidFill>
            <a:srgbClr val="2DF59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67D4C25-F37E-CDC5-BE8A-9E1BBAB4D897}"/>
              </a:ext>
            </a:extLst>
          </p:cNvPr>
          <p:cNvGrpSpPr/>
          <p:nvPr/>
        </p:nvGrpSpPr>
        <p:grpSpPr>
          <a:xfrm>
            <a:off x="9003778" y="5097780"/>
            <a:ext cx="2651760" cy="1051560"/>
            <a:chOff x="8961120" y="4956048"/>
            <a:chExt cx="2651760" cy="1051560"/>
          </a:xfrm>
        </p:grpSpPr>
        <p:sp>
          <p:nvSpPr>
            <p:cNvPr id="47" name="Rounded Rectangle 46"/>
            <p:cNvSpPr/>
            <p:nvPr/>
          </p:nvSpPr>
          <p:spPr>
            <a:xfrm>
              <a:off x="8961120" y="4956048"/>
              <a:ext cx="2651760" cy="1051560"/>
            </a:xfrm>
            <a:prstGeom prst="roundRect">
              <a:avLst>
                <a:gd name="adj" fmla="val 5500"/>
              </a:avLst>
            </a:prstGeom>
            <a:solidFill>
              <a:srgbClr val="182233">
                <a:alpha val="84000"/>
              </a:srgbClr>
            </a:solidFill>
            <a:ln w="12700">
              <a:solidFill>
                <a:srgbClr val="2737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49" name="Oval 48"/>
            <p:cNvSpPr/>
            <p:nvPr/>
          </p:nvSpPr>
          <p:spPr>
            <a:xfrm>
              <a:off x="9235440" y="5193792"/>
              <a:ext cx="347472" cy="347472"/>
            </a:xfrm>
            <a:prstGeom prst="ellipse">
              <a:avLst/>
            </a:prstGeom>
            <a:solidFill>
              <a:srgbClr val="2DF59B">
                <a:alpha val="3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500">
                  <a:solidFill>
                    <a:srgbClr val="F3F7FF"/>
                  </a:solidFill>
                  <a:latin typeface="Segoe UI Emoji"/>
                </a:rPr>
                <a:t>☁️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747504" y="5120640"/>
              <a:ext cx="178308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50" b="1" i="0">
                  <a:solidFill>
                    <a:srgbClr val="2DF59B"/>
                  </a:solidFill>
                  <a:latin typeface="Segoe UI Semibold"/>
                </a:rPr>
                <a:t>Cloud brain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747504" y="5413248"/>
              <a:ext cx="178308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000" b="0" i="0">
                  <a:solidFill>
                    <a:srgbClr val="93A5C0"/>
                  </a:solidFill>
                  <a:latin typeface="Segoe UI"/>
                </a:rPr>
                <a:t>on Railway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911"/>
              </a:gs>
              <a:gs pos="100000">
                <a:srgbClr val="0D14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5" y="-822960"/>
            <a:ext cx="4389120" cy="438912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463" y="3154680"/>
            <a:ext cx="4389120" cy="4389120"/>
          </a:xfrm>
          <a:prstGeom prst="ellipse">
            <a:avLst/>
          </a:prstGeom>
          <a:solidFill>
            <a:srgbClr val="8B7FF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20624"/>
            <a:ext cx="2359152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2D3EE"/>
                </a:solidFill>
                <a:latin typeface="Segoe UI Semibold"/>
              </a:rPr>
              <a:t>03 · THE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3F7FF"/>
                </a:solidFill>
                <a:latin typeface="Segoe UI Semibold"/>
              </a:rPr>
              <a:t>What Maxi is made of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371600" cy="41148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Maxi  ·  6-Month Coding Bootcamp  ·  4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5074920" cy="3282696"/>
          </a:xfrm>
          <a:prstGeom prst="roundRect">
            <a:avLst>
              <a:gd name="adj" fmla="val 5500"/>
            </a:avLst>
          </a:prstGeom>
          <a:solidFill>
            <a:srgbClr val="060911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2" name="Picture 11" descr="robo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703" y="1810512"/>
            <a:ext cx="1047369" cy="30632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870448" y="1700784"/>
            <a:ext cx="5760720" cy="960120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08192" y="1938528"/>
            <a:ext cx="493776" cy="493776"/>
          </a:xfrm>
          <a:prstGeom prst="ellipse">
            <a:avLst/>
          </a:prstGeom>
          <a:solidFill>
            <a:srgbClr val="8B7FF5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67445" y="1997781"/>
            <a:ext cx="375270" cy="375270"/>
          </a:xfrm>
          <a:prstGeom prst="ellipse">
            <a:avLst/>
          </a:prstGeom>
          <a:solidFill>
            <a:srgbClr val="8B7FF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>
                <a:solidFill>
                  <a:srgbClr val="F3F7FF"/>
                </a:solidFill>
                <a:latin typeface="Segoe UI Emoji"/>
              </a:rPr>
              <a:t>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837944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7FF5"/>
                </a:solidFill>
                <a:latin typeface="Segoe UI Semibold"/>
              </a:rPr>
              <a:t>Two hands, 12 servos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57984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93A5C0"/>
                </a:solidFill>
                <a:latin typeface="Segoe UI"/>
              </a:rPr>
              <a:t>5 fingers + 1 wrist per hand. Servo channels 0–11 on one driver board.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70448" y="2779776"/>
            <a:ext cx="5760720" cy="960120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108192" y="3017520"/>
            <a:ext cx="493776" cy="493776"/>
          </a:xfrm>
          <a:prstGeom prst="ellipse">
            <a:avLst/>
          </a:prstGeom>
          <a:solidFill>
            <a:srgbClr val="22D3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67445" y="3076773"/>
            <a:ext cx="375270" cy="375270"/>
          </a:xfrm>
          <a:prstGeom prst="ellipse">
            <a:avLst/>
          </a:prstGeom>
          <a:solidFill>
            <a:srgbClr val="22D3EE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>
                <a:solidFill>
                  <a:srgbClr val="F3F7FF"/>
                </a:solidFill>
                <a:latin typeface="Segoe UI Emoji"/>
              </a:rPr>
              <a:t>🎛️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916936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dirty="0">
                <a:solidFill>
                  <a:srgbClr val="22D3EE"/>
                </a:solidFill>
                <a:latin typeface="Segoe UI Semibold"/>
              </a:rPr>
              <a:t>Adafruit PCA9685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236976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 dirty="0">
                <a:solidFill>
                  <a:srgbClr val="93A5C0"/>
                </a:solidFill>
                <a:latin typeface="Segoe UI"/>
              </a:rPr>
              <a:t>A 16-channel PWM board that turns the Pi's commands into servo movement over I²C.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70448" y="3858768"/>
            <a:ext cx="5760720" cy="960120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08192" y="4096512"/>
            <a:ext cx="493776" cy="493776"/>
          </a:xfrm>
          <a:prstGeom prst="ellipse">
            <a:avLst/>
          </a:prstGeom>
          <a:solidFill>
            <a:srgbClr val="2DF59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167445" y="4155765"/>
            <a:ext cx="375270" cy="375270"/>
          </a:xfrm>
          <a:prstGeom prst="ellipse">
            <a:avLst/>
          </a:prstGeom>
          <a:solidFill>
            <a:srgbClr val="2DF59B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>
                <a:solidFill>
                  <a:srgbClr val="F3F7FF"/>
                </a:solidFill>
                <a:latin typeface="Segoe UI Emoji"/>
              </a:rPr>
              <a:t>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95928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DF59B"/>
                </a:solidFill>
                <a:latin typeface="Segoe UI Semibold"/>
              </a:rPr>
              <a:t>Calibrated per finger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315968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 dirty="0">
                <a:solidFill>
                  <a:srgbClr val="93A5C0"/>
                </a:solidFill>
                <a:latin typeface="Segoe UI"/>
              </a:rPr>
              <a:t>Every finger has its own open/closed angles — e.g. right pinky 0–90°, wrist 20–160°.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138928"/>
            <a:ext cx="11064240" cy="960120"/>
          </a:xfrm>
          <a:prstGeom prst="roundRect">
            <a:avLst>
              <a:gd name="adj" fmla="val 5500"/>
            </a:avLst>
          </a:prstGeom>
          <a:solidFill>
            <a:srgbClr val="182233">
              <a:alpha val="88000"/>
            </a:srgbClr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523036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FBBF24"/>
                </a:solidFill>
                <a:latin typeface="Segoe UI Semibold"/>
              </a:rPr>
              <a:t>LIST</a:t>
            </a:r>
            <a:r>
              <a:rPr sz="1100" b="1" i="0" dirty="0">
                <a:solidFill>
                  <a:srgbClr val="FBBF24"/>
                </a:solidFill>
                <a:latin typeface="Segoe UI Semibold"/>
              </a:rPr>
              <a:t> OF MATERIALS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522976"/>
            <a:ext cx="10881360" cy="175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 dirty="0">
                <a:solidFill>
                  <a:srgbClr val="93A5C0"/>
                </a:solidFill>
                <a:latin typeface="Segoe UI"/>
              </a:rPr>
              <a:t>Raspberry Pi  —    ·   12 × micro-servos  —  ( SG90 / MG90S)    —  (external 5V supply)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911"/>
              </a:gs>
              <a:gs pos="100000">
                <a:srgbClr val="0D14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43889" y="-1234440"/>
            <a:ext cx="4389120" cy="4389120"/>
          </a:xfrm>
          <a:prstGeom prst="ellipse">
            <a:avLst/>
          </a:prstGeom>
          <a:solidFill>
            <a:srgbClr val="8B7FF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34131" y="3429000"/>
            <a:ext cx="4389120" cy="438912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8B7FF5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20624"/>
            <a:ext cx="2359152" cy="274320"/>
          </a:xfrm>
          <a:prstGeom prst="roundRect">
            <a:avLst>
              <a:gd name="adj" fmla="val 50000"/>
            </a:avLst>
          </a:prstGeom>
          <a:solidFill>
            <a:srgbClr val="8B7FF5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8B7FF5"/>
                </a:solidFill>
                <a:latin typeface="Segoe UI Semibold"/>
              </a:rPr>
              <a:t>04 · THE BRAIN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3F7FF"/>
                </a:solidFill>
                <a:latin typeface="Segoe UI Semibold"/>
              </a:rPr>
              <a:t>Where Maxi actually thinks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3A5C0"/>
                </a:solidFill>
                <a:latin typeface="Segoe UI"/>
              </a:rPr>
              <a:t>A cloud service on Railway — not a chip inside the robot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1371600" cy="41148"/>
          </a:xfrm>
          <a:prstGeom prst="rect">
            <a:avLst/>
          </a:prstGeom>
          <a:solidFill>
            <a:srgbClr val="8B7FF5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Maxi  ·  6-Month Coding Bootcamp  ·  4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066544"/>
            <a:ext cx="2651760" cy="114300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786384" y="2267712"/>
            <a:ext cx="457200" cy="457200"/>
          </a:xfrm>
          <a:prstGeom prst="ellipse">
            <a:avLst/>
          </a:prstGeom>
          <a:solidFill>
            <a:srgbClr val="22D3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2322576"/>
            <a:ext cx="347472" cy="347472"/>
          </a:xfrm>
          <a:prstGeom prst="ellipse">
            <a:avLst/>
          </a:prstGeom>
          <a:solidFill>
            <a:srgbClr val="22D3EE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>
                <a:solidFill>
                  <a:srgbClr val="F3F7FF"/>
                </a:solidFill>
                <a:latin typeface="Segoe UI Emoji"/>
              </a:rPr>
              <a:t>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322576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 dirty="0">
                <a:solidFill>
                  <a:srgbClr val="22D3EE"/>
                </a:solidFill>
                <a:latin typeface="Segoe UI Semibold"/>
              </a:rPr>
              <a:t>Flask + Socket.IO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779776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93A5C0"/>
                </a:solidFill>
                <a:latin typeface="Segoe UI"/>
              </a:rPr>
              <a:t>The gateway the tablet talks to. Messages fly back and forth over a live connection.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2066544"/>
            <a:ext cx="2807208" cy="114300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584448" y="2267712"/>
            <a:ext cx="457200" cy="457200"/>
          </a:xfrm>
          <a:prstGeom prst="ellipse">
            <a:avLst/>
          </a:prstGeom>
          <a:solidFill>
            <a:srgbClr val="8B7FF5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639312" y="2322576"/>
            <a:ext cx="347472" cy="347472"/>
          </a:xfrm>
          <a:prstGeom prst="ellipse">
            <a:avLst/>
          </a:prstGeom>
          <a:solidFill>
            <a:srgbClr val="8B7FF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>
                <a:solidFill>
                  <a:srgbClr val="F3F7FF"/>
                </a:solidFill>
                <a:latin typeface="Segoe UI Emoji"/>
              </a:rP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322576"/>
            <a:ext cx="173736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 dirty="0">
                <a:solidFill>
                  <a:srgbClr val="8B7FF5"/>
                </a:solidFill>
                <a:latin typeface="Segoe UI Semibold"/>
              </a:rPr>
              <a:t> </a:t>
            </a:r>
            <a:r>
              <a:rPr lang="en-US" sz="1250" b="1" dirty="0">
                <a:solidFill>
                  <a:srgbClr val="8B7FF5"/>
                </a:solidFill>
                <a:latin typeface="Segoe UI Semibold"/>
              </a:rPr>
              <a:t>l</a:t>
            </a:r>
            <a:r>
              <a:rPr sz="1250" b="1" i="0" dirty="0">
                <a:solidFill>
                  <a:srgbClr val="8B7FF5"/>
                </a:solidFill>
                <a:latin typeface="Segoe UI Semibold"/>
              </a:rPr>
              <a:t>anguage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2779776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93A5C0"/>
                </a:solidFill>
                <a:latin typeface="Segoe UI"/>
              </a:rPr>
              <a:t>llama-3.1-8b-instant turns the child's words into a friendly, kid-safe answer.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00984"/>
            <a:ext cx="2651760" cy="114300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86384" y="3502152"/>
            <a:ext cx="457200" cy="457200"/>
          </a:xfrm>
          <a:prstGeom prst="ellipse">
            <a:avLst/>
          </a:prstGeom>
          <a:solidFill>
            <a:srgbClr val="2DF59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1248" y="3557016"/>
            <a:ext cx="347472" cy="347472"/>
          </a:xfrm>
          <a:prstGeom prst="ellipse">
            <a:avLst/>
          </a:prstGeom>
          <a:solidFill>
            <a:srgbClr val="2DF59B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>
                <a:solidFill>
                  <a:srgbClr val="F3F7FF"/>
                </a:solidFill>
                <a:latin typeface="Segoe UI Emoji"/>
              </a:rPr>
              <a:t>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3557016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F59B"/>
                </a:solidFill>
                <a:latin typeface="Segoe UI Semibold"/>
              </a:rPr>
              <a:t>Skills router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014216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 dirty="0">
                <a:solidFill>
                  <a:srgbClr val="93A5C0"/>
                </a:solidFill>
                <a:latin typeface="Segoe UI"/>
              </a:rPr>
              <a:t>Chat, </a:t>
            </a:r>
            <a:r>
              <a:rPr sz="950" b="0" i="0" dirty="0" err="1">
                <a:solidFill>
                  <a:srgbClr val="93A5C0"/>
                </a:solidFill>
                <a:latin typeface="Segoe UI"/>
              </a:rPr>
              <a:t>maths</a:t>
            </a:r>
            <a:r>
              <a:rPr sz="950" b="0" i="0" dirty="0">
                <a:solidFill>
                  <a:srgbClr val="93A5C0"/>
                </a:solidFill>
                <a:latin typeface="Segoe UI"/>
              </a:rPr>
              <a:t>, spelling, stories, quizzes, time &amp; date — each is a small "skill".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64992" y="3300984"/>
            <a:ext cx="2788920" cy="1143000"/>
          </a:xfrm>
          <a:prstGeom prst="roundRect">
            <a:avLst>
              <a:gd name="adj" fmla="val 10167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584448" y="3502152"/>
            <a:ext cx="457200" cy="457200"/>
          </a:xfrm>
          <a:prstGeom prst="ellipse">
            <a:avLst/>
          </a:prstGeom>
          <a:solidFill>
            <a:srgbClr val="F472B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639312" y="3557016"/>
            <a:ext cx="347472" cy="347472"/>
          </a:xfrm>
          <a:prstGeom prst="ellipse">
            <a:avLst/>
          </a:prstGeom>
          <a:solidFill>
            <a:srgbClr val="F472B6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>
                <a:solidFill>
                  <a:srgbClr val="F3F7FF"/>
                </a:solidFill>
                <a:latin typeface="Segoe UI Emoji"/>
              </a:rPr>
              <a:t>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1376" y="3557016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472B6"/>
                </a:solidFill>
                <a:latin typeface="Segoe UI Semibold"/>
              </a:rPr>
              <a:t>Long-term 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4014216"/>
            <a:ext cx="2602992" cy="314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 dirty="0">
                <a:solidFill>
                  <a:srgbClr val="93A5C0"/>
                </a:solidFill>
                <a:latin typeface="Segoe UI"/>
              </a:rPr>
              <a:t>A tiny SQLite store so Maxi remembers a child's name and what they like, next time too.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2066544"/>
            <a:ext cx="5276088" cy="2651760"/>
          </a:xfrm>
          <a:prstGeom prst="roundRect">
            <a:avLst>
              <a:gd name="adj" fmla="val 5500"/>
            </a:avLst>
          </a:prstGeom>
          <a:solidFill>
            <a:srgbClr val="182233">
              <a:alpha val="88000"/>
            </a:srgbClr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629400" y="2322576"/>
            <a:ext cx="548640" cy="548640"/>
          </a:xfrm>
          <a:prstGeom prst="ellipse">
            <a:avLst/>
          </a:prstGeom>
          <a:solidFill>
            <a:srgbClr val="FBBF2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695236" y="2388412"/>
            <a:ext cx="416968" cy="416968"/>
          </a:xfrm>
          <a:prstGeom prst="ellipse">
            <a:avLst/>
          </a:prstGeom>
          <a:solidFill>
            <a:srgbClr val="FBBF24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>
                <a:solidFill>
                  <a:srgbClr val="F3F7FF"/>
                </a:solidFill>
                <a:latin typeface="Segoe UI Emoji"/>
              </a:rPr>
              <a:t>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23774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BBF24"/>
                </a:solidFill>
                <a:latin typeface="Segoe UI Semibold"/>
              </a:rPr>
              <a:t>We first trained our OWN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026664"/>
            <a:ext cx="4800600" cy="1192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 i="0" dirty="0">
                <a:solidFill>
                  <a:srgbClr val="93A5C0"/>
                </a:solidFill>
                <a:latin typeface="Segoe UI"/>
              </a:rPr>
              <a:t>At the start of the </a:t>
            </a:r>
            <a:r>
              <a:rPr lang="en-US" sz="1200" b="0" i="0" dirty="0">
                <a:solidFill>
                  <a:srgbClr val="93A5C0"/>
                </a:solidFill>
                <a:latin typeface="Segoe UI"/>
              </a:rPr>
              <a:t>project,</a:t>
            </a:r>
            <a:r>
              <a:rPr sz="1200" b="0" i="0" dirty="0">
                <a:solidFill>
                  <a:srgbClr val="93A5C0"/>
                </a:solidFill>
                <a:latin typeface="Segoe UI"/>
              </a:rPr>
              <a:t> we trained our own language model from scratch. But we could not run it — we did not have the computing power, and no funding to buy the hardware it needed. </a:t>
            </a:r>
            <a:r>
              <a:rPr lang="en-US" sz="1200" b="0" i="0" dirty="0">
                <a:solidFill>
                  <a:srgbClr val="93A5C0"/>
                </a:solidFill>
                <a:latin typeface="Segoe UI"/>
              </a:rPr>
              <a:t>So,</a:t>
            </a:r>
            <a:r>
              <a:rPr sz="1200" b="0" i="0" dirty="0">
                <a:solidFill>
                  <a:srgbClr val="93A5C0"/>
                </a:solidFill>
                <a:latin typeface="Segoe UI"/>
              </a:rPr>
              <a:t> we made an engineering choice: use a free cloud model instead, and put our effort into the robot. Same brain-in-the-cloud idea, zero license cost.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138928"/>
            <a:ext cx="11064240" cy="868680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41248" y="543153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 dirty="0">
                <a:solidFill>
                  <a:srgbClr val="22D3EE"/>
                </a:solidFill>
                <a:latin typeface="Segoe UI Semibold"/>
              </a:rPr>
              <a:t>Python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83664" y="5431536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8B7FF5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8B7FF5"/>
                </a:solidFill>
                <a:latin typeface="Segoe UI Semibold"/>
              </a:rPr>
              <a:t>Flask 2.3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71800" y="543153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DF59B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DF59B"/>
                </a:solidFill>
                <a:latin typeface="Segoe UI Semibold"/>
              </a:rPr>
              <a:t>Socket.IO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07408" y="543153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 Semibold"/>
              </a:rPr>
              <a:t>Edge-TTS voice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76253" y="543153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2D3EE"/>
                </a:solidFill>
                <a:latin typeface="Segoe UI Semibold"/>
              </a:rPr>
              <a:t>Railway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911"/>
              </a:gs>
              <a:gs pos="100000">
                <a:srgbClr val="0D14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43779" y="-960120"/>
            <a:ext cx="4389120" cy="438912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02629" y="3291840"/>
            <a:ext cx="4389120" cy="4389120"/>
          </a:xfrm>
          <a:prstGeom prst="ellipse">
            <a:avLst/>
          </a:prstGeom>
          <a:solidFill>
            <a:srgbClr val="F472B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20624"/>
            <a:ext cx="2505456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2D3EE"/>
                </a:solidFill>
                <a:latin typeface="Segoe UI Semibold"/>
              </a:rPr>
              <a:t>05 · THE SENSES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3F7FF"/>
                </a:solidFill>
                <a:latin typeface="Segoe UI Semibold"/>
              </a:rPr>
              <a:t>How Maxi takes the world 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371600" cy="41148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Maxi  ·  6-Month Coding Bootcamp  ·  4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3529584" cy="320040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6928" y="1700784"/>
            <a:ext cx="3529584" cy="685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6112" y="2084832"/>
            <a:ext cx="676656" cy="676656"/>
          </a:xfrm>
          <a:prstGeom prst="ellipse">
            <a:avLst/>
          </a:prstGeom>
          <a:solidFill>
            <a:srgbClr val="22D3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77310" y="2166030"/>
            <a:ext cx="514260" cy="514260"/>
          </a:xfrm>
          <a:prstGeom prst="ellipse">
            <a:avLst/>
          </a:prstGeom>
          <a:solidFill>
            <a:srgbClr val="22D3EE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>
                <a:solidFill>
                  <a:srgbClr val="F3F7FF"/>
                </a:solidFill>
                <a:latin typeface="Segoe UI Emoji"/>
              </a:rPr>
              <a:t>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0175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22D3EE"/>
                </a:solidFill>
                <a:latin typeface="Segoe UI Semibold"/>
              </a:rPr>
              <a:t>Microphone — hearing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493008"/>
            <a:ext cx="2971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The tablet's mic is Maxi's main sense. The browser turns speech into text; that text is what the brain reads.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4443984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2D3EE"/>
                </a:solidFill>
                <a:latin typeface="Segoe UI Semibold"/>
              </a:rPr>
              <a:t>Web Speech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1104" y="1700784"/>
            <a:ext cx="3529584" cy="320040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61104" y="1700784"/>
            <a:ext cx="3529584" cy="68580"/>
          </a:xfrm>
          <a:prstGeom prst="roundRect">
            <a:avLst>
              <a:gd name="adj" fmla="val 50000"/>
            </a:avLst>
          </a:prstGeom>
          <a:solidFill>
            <a:srgbClr val="8B7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90288" y="2084832"/>
            <a:ext cx="676656" cy="676656"/>
          </a:xfrm>
          <a:prstGeom prst="ellipse">
            <a:avLst/>
          </a:prstGeom>
          <a:solidFill>
            <a:srgbClr val="8B7FF5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71486" y="2166030"/>
            <a:ext cx="514260" cy="514260"/>
          </a:xfrm>
          <a:prstGeom prst="ellipse">
            <a:avLst/>
          </a:prstGeom>
          <a:solidFill>
            <a:srgbClr val="8B7FF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>
                <a:solidFill>
                  <a:srgbClr val="F3F7FF"/>
                </a:solidFill>
                <a:latin typeface="Segoe UI Emoji"/>
              </a:rPr>
              <a:t>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0175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8B7FF5"/>
                </a:solidFill>
                <a:latin typeface="Segoe UI Semibold"/>
              </a:rPr>
              <a:t>Wake word — "Hey Maxi"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493008"/>
            <a:ext cx="2971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A small on-device model (Vosk, ~41 MB) listens for its name, so it only wakes when spoken 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0288" y="4443984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8B7FF5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8B7FF5"/>
                </a:solidFill>
                <a:latin typeface="Segoe UI Semibold"/>
              </a:rPr>
              <a:t>confidence ≥ 0.6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1700784"/>
            <a:ext cx="3529584" cy="320040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955280" y="1700784"/>
            <a:ext cx="3529584" cy="68580"/>
          </a:xfrm>
          <a:prstGeom prst="roundRect">
            <a:avLst>
              <a:gd name="adj" fmla="val 50000"/>
            </a:avLst>
          </a:prstGeom>
          <a:solidFill>
            <a:srgbClr val="2DF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84464" y="2084832"/>
            <a:ext cx="676656" cy="676656"/>
          </a:xfrm>
          <a:prstGeom prst="ellipse">
            <a:avLst/>
          </a:prstGeom>
          <a:solidFill>
            <a:srgbClr val="2DF59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365662" y="2166030"/>
            <a:ext cx="514260" cy="514260"/>
          </a:xfrm>
          <a:prstGeom prst="ellipse">
            <a:avLst/>
          </a:prstGeom>
          <a:solidFill>
            <a:srgbClr val="2DF59B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>
                <a:solidFill>
                  <a:srgbClr val="F3F7FF"/>
                </a:solidFill>
                <a:latin typeface="Segoe UI Emoji"/>
              </a:rPr>
              <a:t>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30175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2DF59B"/>
                </a:solidFill>
                <a:latin typeface="Segoe UI Semibold"/>
              </a:rPr>
              <a:t>Touch — the screen &amp; head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3493008"/>
            <a:ext cx="2971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 dirty="0">
                <a:solidFill>
                  <a:srgbClr val="93A5C0"/>
                </a:solidFill>
                <a:latin typeface="Segoe UI"/>
              </a:rPr>
              <a:t>Tapping the screen, or Maxi's head, is a second input: a tap plays; a 3-second hold refreshes and resets 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84464" y="4443984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2DF59B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2DF59B"/>
                </a:solidFill>
                <a:latin typeface="Segoe UI Semibold"/>
              </a:rPr>
              <a:t>tablet touchscreen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440680"/>
            <a:ext cx="11064240" cy="658368"/>
          </a:xfrm>
          <a:prstGeom prst="roundRect">
            <a:avLst>
              <a:gd name="adj" fmla="val 5500"/>
            </a:avLst>
          </a:prstGeom>
          <a:solidFill>
            <a:srgbClr val="182233">
              <a:alpha val="88000"/>
            </a:srgbClr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41248" y="5541264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96112" y="5596128"/>
            <a:ext cx="347472" cy="347472"/>
          </a:xfrm>
          <a:prstGeom prst="ellipse">
            <a:avLst/>
          </a:prstGeom>
          <a:solidFill>
            <a:srgbClr val="FBBF24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>
                <a:solidFill>
                  <a:srgbClr val="F3F7FF"/>
                </a:solidFill>
                <a:latin typeface="Segoe UI Emoji"/>
              </a:rPr>
              <a:t>⚠️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559552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 dirty="0">
                <a:solidFill>
                  <a:srgbClr val="FBBF24"/>
                </a:solidFill>
                <a:latin typeface="Segoe UI Semibold"/>
              </a:rPr>
              <a:t>Being honest: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 dirty="0">
                <a:solidFill>
                  <a:srgbClr val="F3F7FF"/>
                </a:solidFill>
                <a:latin typeface="Segoe UI"/>
              </a:rPr>
              <a:t>Maxi has no camera and no distance sensors yet. Hearing is its main sense — giving it eyes is on our roadmap.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911"/>
              </a:gs>
              <a:gs pos="100000">
                <a:srgbClr val="0D14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43889" y="-1234440"/>
            <a:ext cx="4389120" cy="4389120"/>
          </a:xfrm>
          <a:prstGeom prst="ellipse">
            <a:avLst/>
          </a:prstGeom>
          <a:solidFill>
            <a:srgbClr val="8B7FF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34131" y="3429000"/>
            <a:ext cx="4389120" cy="438912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2DF59B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20624"/>
            <a:ext cx="2944368" cy="274320"/>
          </a:xfrm>
          <a:prstGeom prst="roundRect">
            <a:avLst>
              <a:gd name="adj" fmla="val 50000"/>
            </a:avLst>
          </a:prstGeom>
          <a:solidFill>
            <a:srgbClr val="2DF59B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DF59B"/>
                </a:solidFill>
                <a:latin typeface="Segoe UI Semibold"/>
              </a:rPr>
              <a:t>06 · HOW IT THINKS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3F7FF"/>
                </a:solidFill>
                <a:latin typeface="Segoe UI Semibold"/>
              </a:rPr>
              <a:t>A state machine, not a tangle of if-statements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3A5C0"/>
                </a:solidFill>
                <a:latin typeface="Segoe UI"/>
              </a:rPr>
              <a:t>Maxi is always in exactly one state, and moves between them on clear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1371600" cy="41148"/>
          </a:xfrm>
          <a:prstGeom prst="rect">
            <a:avLst/>
          </a:prstGeom>
          <a:solidFill>
            <a:srgbClr val="2DF59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Maxi  ·  6-Month Coding Bootcamp  ·  4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066544"/>
            <a:ext cx="2487168" cy="1371600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32257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647794"/>
                </a:solidFill>
                <a:latin typeface="Segoe UI Semibold"/>
              </a:rPr>
              <a:t>IDLE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1635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3A5C0"/>
                </a:solidFill>
                <a:latin typeface="Segoe UI"/>
              </a:rPr>
              <a:t>waiting</a:t>
            </a:r>
          </a:p>
        </p:txBody>
      </p:sp>
      <p:sp>
        <p:nvSpPr>
          <p:cNvPr id="15" name="Chevron 14"/>
          <p:cNvSpPr/>
          <p:nvPr/>
        </p:nvSpPr>
        <p:spPr>
          <a:xfrm>
            <a:off x="3108960" y="2569464"/>
            <a:ext cx="219456" cy="329184"/>
          </a:xfrm>
          <a:prstGeom prst="chevron">
            <a:avLst/>
          </a:prstGeom>
          <a:solidFill>
            <a:srgbClr val="27375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64992" y="2066544"/>
            <a:ext cx="2487168" cy="1371600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02736" y="232257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2D3EE"/>
                </a:solidFill>
                <a:latin typeface="Segoe UI Semibold"/>
              </a:rPr>
              <a:t>LISTENING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281635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3A5C0"/>
                </a:solidFill>
                <a:latin typeface="Segoe UI"/>
              </a:rPr>
              <a:t>hearing you</a:t>
            </a:r>
          </a:p>
        </p:txBody>
      </p:sp>
      <p:sp>
        <p:nvSpPr>
          <p:cNvPr id="19" name="Chevron 18"/>
          <p:cNvSpPr/>
          <p:nvPr/>
        </p:nvSpPr>
        <p:spPr>
          <a:xfrm>
            <a:off x="5907024" y="2569464"/>
            <a:ext cx="219456" cy="329184"/>
          </a:xfrm>
          <a:prstGeom prst="chevron">
            <a:avLst/>
          </a:prstGeom>
          <a:solidFill>
            <a:srgbClr val="27375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63056" y="2066544"/>
            <a:ext cx="2487168" cy="1371600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32257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8B7FF5"/>
                </a:solidFill>
                <a:latin typeface="Segoe UI Semibold"/>
              </a:rPr>
              <a:t>THINKING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1635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3A5C0"/>
                </a:solidFill>
                <a:latin typeface="Segoe UI"/>
              </a:rPr>
              <a:t>asking the brain</a:t>
            </a:r>
          </a:p>
        </p:txBody>
      </p:sp>
      <p:sp>
        <p:nvSpPr>
          <p:cNvPr id="23" name="Chevron 22"/>
          <p:cNvSpPr/>
          <p:nvPr/>
        </p:nvSpPr>
        <p:spPr>
          <a:xfrm>
            <a:off x="8705088" y="2569464"/>
            <a:ext cx="219456" cy="329184"/>
          </a:xfrm>
          <a:prstGeom prst="chevron">
            <a:avLst/>
          </a:prstGeom>
          <a:solidFill>
            <a:srgbClr val="27375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961120" y="2066544"/>
            <a:ext cx="2487168" cy="1371600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98864" y="232257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DF59B"/>
                </a:solidFill>
                <a:latin typeface="Segoe UI Semibold"/>
              </a:rPr>
              <a:t>SPEAKING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281635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3A5C0"/>
                </a:solidFill>
                <a:latin typeface="Segoe UI"/>
              </a:rPr>
              <a:t>talking + moving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547872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93A5C0"/>
                </a:solidFill>
                <a:latin typeface="Segoe UI"/>
              </a:rPr>
              <a:t>…then back to IDLE. It is wake-gated: it only listens after you say "Hey Maxi" or tap — never on its own.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977639"/>
            <a:ext cx="3529584" cy="196596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59536" y="4206240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25372" y="4272076"/>
            <a:ext cx="416968" cy="416968"/>
          </a:xfrm>
          <a:prstGeom prst="ellipse">
            <a:avLst/>
          </a:prstGeom>
          <a:solidFill>
            <a:srgbClr val="22D3EE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>
                <a:solidFill>
                  <a:srgbClr val="F3F7FF"/>
                </a:solidFill>
                <a:latin typeface="Segoe UI Emoji"/>
              </a:rPr>
              <a:t>🛡️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261104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2D3EE"/>
                </a:solidFill>
                <a:latin typeface="Segoe UI Semibold"/>
              </a:rPr>
              <a:t>It ignores its own voice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4864608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 dirty="0">
                <a:solidFill>
                  <a:srgbClr val="93A5C0"/>
                </a:solidFill>
                <a:latin typeface="Segoe UI"/>
              </a:rPr>
              <a:t>Speech is accepted ONLY while the state is LISTENING. That one rule stops Maxi from hearing itself and answering itself in a loop.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61104" y="3977639"/>
            <a:ext cx="3529584" cy="196596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553712" y="4206240"/>
            <a:ext cx="548640" cy="548640"/>
          </a:xfrm>
          <a:prstGeom prst="ellipse">
            <a:avLst/>
          </a:prstGeom>
          <a:solidFill>
            <a:srgbClr val="8B7FF5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619548" y="4272076"/>
            <a:ext cx="416968" cy="416968"/>
          </a:xfrm>
          <a:prstGeom prst="ellipse">
            <a:avLst/>
          </a:prstGeom>
          <a:solidFill>
            <a:srgbClr val="8B7FF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>
                <a:solidFill>
                  <a:srgbClr val="F3F7FF"/>
                </a:solidFill>
                <a:latin typeface="Segoe UI Emoji"/>
              </a:rPr>
              <a:t>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261104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8B7FF5"/>
                </a:solidFill>
                <a:latin typeface="Segoe UI Semibold"/>
              </a:rPr>
              <a:t>Answer 0–10 → real fingers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4864608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If a maths answer is ten or less, Maxi counts it out on its hands. Bigger than ten, it shows it on the screen instead.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80" y="3977639"/>
            <a:ext cx="3529584" cy="196596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247888" y="4206240"/>
            <a:ext cx="548640" cy="548640"/>
          </a:xfrm>
          <a:prstGeom prst="ellipse">
            <a:avLst/>
          </a:prstGeom>
          <a:solidFill>
            <a:srgbClr val="2DF59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313724" y="4272076"/>
            <a:ext cx="416968" cy="416968"/>
          </a:xfrm>
          <a:prstGeom prst="ellipse">
            <a:avLst/>
          </a:prstGeom>
          <a:solidFill>
            <a:srgbClr val="2DF59B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>
                <a:solidFill>
                  <a:srgbClr val="F3F7FF"/>
                </a:solidFill>
                <a:latin typeface="Segoe UI Emoji"/>
              </a:rPr>
              <a:t>🎚️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4544" y="4261104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DF59B"/>
                </a:solidFill>
                <a:latin typeface="Segoe UI Semibold"/>
              </a:rPr>
              <a:t>Smooth, not snappy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4864608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 dirty="0">
                <a:solidFill>
                  <a:srgbClr val="93A5C0"/>
                </a:solidFill>
                <a:latin typeface="Segoe UI"/>
              </a:rPr>
              <a:t>Servos don't jump. Each move eases in and out with a cubic curve, ~67 updates a second — so movement looks natural, not robotic.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911"/>
              </a:gs>
              <a:gs pos="100000">
                <a:srgbClr val="0D14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43779" y="-685800"/>
            <a:ext cx="4389120" cy="4389120"/>
          </a:xfrm>
          <a:prstGeom prst="ellipse">
            <a:avLst/>
          </a:prstGeom>
          <a:solidFill>
            <a:srgbClr val="8B7FF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558796" y="3154680"/>
            <a:ext cx="4389120" cy="4389120"/>
          </a:xfrm>
          <a:prstGeom prst="ellipse">
            <a:avLst/>
          </a:prstGeom>
          <a:solidFill>
            <a:srgbClr val="2DF59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8B7FF5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20624"/>
            <a:ext cx="2212848" cy="274320"/>
          </a:xfrm>
          <a:prstGeom prst="roundRect">
            <a:avLst>
              <a:gd name="adj" fmla="val 50000"/>
            </a:avLst>
          </a:prstGeom>
          <a:solidFill>
            <a:srgbClr val="8B7FF5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8B7FF5"/>
                </a:solidFill>
                <a:latin typeface="Segoe UI Semibold"/>
              </a:rPr>
              <a:t>07 · THE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3F7FF"/>
                </a:solidFill>
                <a:latin typeface="Segoe UI Semibold"/>
              </a:rPr>
              <a:t>Two real pieces of Maxi, straight from the repo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371600" cy="41148"/>
          </a:xfrm>
          <a:prstGeom prst="rect">
            <a:avLst/>
          </a:prstGeom>
          <a:solidFill>
            <a:srgbClr val="8B7FF5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Maxi  ·  6-Month Coding Bootcamp  ·  4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5486400" cy="251460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1883664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egoe UI Semibold"/>
              </a:rPr>
              <a:t>1 · The brain ignores its own echo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304288"/>
            <a:ext cx="4937760" cy="1371600"/>
          </a:xfrm>
          <a:prstGeom prst="roundRect">
            <a:avLst>
              <a:gd name="adj" fmla="val 5500"/>
            </a:avLst>
          </a:prstGeom>
          <a:solidFill>
            <a:srgbClr val="060911"/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2432304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 dirty="0">
                <a:solidFill>
                  <a:srgbClr val="2DF59B"/>
                </a:solidFill>
                <a:latin typeface="Consolas"/>
              </a:rPr>
              <a:t># only accept speech while LISTENING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 dirty="0">
                <a:solidFill>
                  <a:srgbClr val="2DF59B"/>
                </a:solidFill>
                <a:latin typeface="Consolas"/>
              </a:rPr>
              <a:t>if </a:t>
            </a:r>
            <a:r>
              <a:rPr sz="1100" b="0" i="0" dirty="0" err="1">
                <a:solidFill>
                  <a:srgbClr val="2DF59B"/>
                </a:solidFill>
                <a:latin typeface="Consolas"/>
              </a:rPr>
              <a:t>self.session.phase</a:t>
            </a:r>
            <a:r>
              <a:rPr sz="1100" b="0" i="0" dirty="0">
                <a:solidFill>
                  <a:srgbClr val="2DF59B"/>
                </a:solidFill>
                <a:latin typeface="Consolas"/>
              </a:rPr>
              <a:t> != </a:t>
            </a:r>
            <a:r>
              <a:rPr sz="1100" b="0" i="0" dirty="0" err="1">
                <a:solidFill>
                  <a:srgbClr val="2DF59B"/>
                </a:solidFill>
                <a:latin typeface="Consolas"/>
              </a:rPr>
              <a:t>Phase.LISTENING</a:t>
            </a:r>
            <a:r>
              <a:rPr sz="1100" b="0" i="0" dirty="0">
                <a:solidFill>
                  <a:srgbClr val="2DF59B"/>
                </a:solidFill>
                <a:latin typeface="Consolas"/>
              </a:rPr>
              <a:t>: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 dirty="0">
                <a:solidFill>
                  <a:srgbClr val="2DF59B"/>
                </a:solidFill>
                <a:latin typeface="Consolas"/>
              </a:rPr>
              <a:t>    return   # &lt;- drop Maxi's own 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7490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93A5C0"/>
                </a:solidFill>
                <a:latin typeface="Segoe UI"/>
              </a:rPr>
              <a:t>Three lines that killed the "robot talks to itself" bug.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00784"/>
            <a:ext cx="5394960" cy="251460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88366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472B6"/>
                </a:solidFill>
                <a:latin typeface="Segoe UI Semibold"/>
              </a:rPr>
              <a:t>2 · Angle → servo pulse → movement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2304288"/>
            <a:ext cx="4846320" cy="1371600"/>
          </a:xfrm>
          <a:prstGeom prst="roundRect">
            <a:avLst>
              <a:gd name="adj" fmla="val 5500"/>
            </a:avLst>
          </a:prstGeom>
          <a:solidFill>
            <a:srgbClr val="060911"/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56832" y="2414016"/>
            <a:ext cx="45720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BBF24"/>
                </a:solidFill>
                <a:latin typeface="Consolas"/>
              </a:rPr>
              <a:t>pulse = 500 + (angle/180)*(2500-500)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BBF24"/>
                </a:solidFill>
                <a:latin typeface="Consolas"/>
              </a:rPr>
              <a:t>duty  = int(pulse / 20000 * 65535)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FBBF24"/>
                </a:solidFill>
                <a:latin typeface="Consolas"/>
              </a:rPr>
              <a:t>pca.channels[ch].duty_cycle = duty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7490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93A5C0"/>
                </a:solidFill>
                <a:latin typeface="Segoe UI"/>
              </a:rPr>
              <a:t>0–180° becomes a 500–2500 µs pulse at 50 Hz.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29200"/>
            <a:ext cx="11064240" cy="960120"/>
          </a:xfrm>
          <a:prstGeom prst="roundRect">
            <a:avLst>
              <a:gd name="adj" fmla="val 5500"/>
            </a:avLst>
          </a:prstGeom>
          <a:solidFill>
            <a:srgbClr val="182233">
              <a:alpha val="88000"/>
            </a:srgbClr>
          </a:solidFill>
          <a:ln w="12700">
            <a:solidFill>
              <a:srgbClr val="8B7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8680" y="5266944"/>
            <a:ext cx="512064" cy="512064"/>
          </a:xfrm>
          <a:prstGeom prst="ellipse">
            <a:avLst/>
          </a:prstGeom>
          <a:solidFill>
            <a:srgbClr val="8B7FF5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30127" y="5328391"/>
            <a:ext cx="389170" cy="389170"/>
          </a:xfrm>
          <a:prstGeom prst="ellipse">
            <a:avLst/>
          </a:prstGeom>
          <a:solidFill>
            <a:srgbClr val="8B7FF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>
                <a:solidFill>
                  <a:srgbClr val="F3F7FF"/>
                </a:solidFill>
                <a:latin typeface="Segoe UI Emoji"/>
              </a:rPr>
              <a:t>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7904" y="523036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8B7FF5"/>
                </a:solidFill>
                <a:latin typeface="Segoe UI Semibold"/>
              </a:rPr>
              <a:t>No magic, no AI here — just clear rules. 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3F7FF"/>
                </a:solidFill>
                <a:latin typeface="Segoe UI"/>
              </a:rPr>
              <a:t>The left snippet is the safety rule for listening; the right one is the maths that turns an angle into an electrical pulse the servo understands. We wrote both.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911"/>
              </a:gs>
              <a:gs pos="100000">
                <a:srgbClr val="0D14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43889" y="-1234440"/>
            <a:ext cx="4389120" cy="4389120"/>
          </a:xfrm>
          <a:prstGeom prst="ellipse">
            <a:avLst/>
          </a:prstGeom>
          <a:solidFill>
            <a:srgbClr val="8B7FF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34131" y="3429000"/>
            <a:ext cx="4389120" cy="438912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20624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2D3EE"/>
                </a:solidFill>
                <a:latin typeface="Segoe UI Semibold"/>
              </a:rPr>
              <a:t>08 · WIRING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3F7FF"/>
                </a:solidFill>
                <a:latin typeface="Segoe UI Semibold"/>
              </a:rPr>
              <a:t>How the three parts talk to each other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371600" cy="41148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Maxi  ·  6-Month Coding Bootcamp  ·  4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57984"/>
            <a:ext cx="1975104" cy="1664208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34440" y="2359152"/>
            <a:ext cx="640080" cy="640080"/>
          </a:xfrm>
          <a:prstGeom prst="ellipse">
            <a:avLst/>
          </a:prstGeom>
          <a:solidFill>
            <a:srgbClr val="22D3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11249" y="2435961"/>
            <a:ext cx="486462" cy="486462"/>
          </a:xfrm>
          <a:prstGeom prst="ellipse">
            <a:avLst/>
          </a:prstGeom>
          <a:solidFill>
            <a:srgbClr val="22D3EE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>
                <a:solidFill>
                  <a:srgbClr val="F3F7FF"/>
                </a:solidFill>
                <a:latin typeface="Segoe UI Emoji"/>
              </a:rP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090672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2D3EE"/>
                </a:solidFill>
                <a:latin typeface="Segoe UI Semibold"/>
              </a:rPr>
              <a:t>Tablet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01568"/>
            <a:ext cx="19751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3A5C0"/>
                </a:solidFill>
                <a:latin typeface="Segoe UI"/>
              </a:rPr>
              <a:t>face · mic · speaker</a:t>
            </a:r>
          </a:p>
        </p:txBody>
      </p:sp>
      <p:sp>
        <p:nvSpPr>
          <p:cNvPr id="16" name="Chevron 15"/>
          <p:cNvSpPr/>
          <p:nvPr/>
        </p:nvSpPr>
        <p:spPr>
          <a:xfrm>
            <a:off x="2560320" y="2798064"/>
            <a:ext cx="228600" cy="256032"/>
          </a:xfrm>
          <a:prstGeom prst="chevron">
            <a:avLst/>
          </a:prstGeom>
          <a:solidFill>
            <a:srgbClr val="27375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51660" y="17373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3A5C0"/>
                </a:solidFill>
                <a:latin typeface="Segoe UI"/>
              </a:rPr>
              <a:t>Socket.IO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7208" y="2157984"/>
            <a:ext cx="1975104" cy="1664208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474720" y="2359152"/>
            <a:ext cx="640080" cy="640080"/>
          </a:xfrm>
          <a:prstGeom prst="ellipse">
            <a:avLst/>
          </a:prstGeom>
          <a:solidFill>
            <a:srgbClr val="8B7FF5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551529" y="2435961"/>
            <a:ext cx="486462" cy="486462"/>
          </a:xfrm>
          <a:prstGeom prst="ellipse">
            <a:avLst/>
          </a:prstGeom>
          <a:solidFill>
            <a:srgbClr val="8B7FF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>
                <a:solidFill>
                  <a:srgbClr val="F3F7FF"/>
                </a:solidFill>
                <a:latin typeface="Segoe UI Emoji"/>
              </a:rPr>
              <a:t>☁️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3090672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8B7FF5"/>
                </a:solidFill>
                <a:latin typeface="Segoe UI Semibold"/>
              </a:rPr>
              <a:t>Cloud brain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7208" y="3401568"/>
            <a:ext cx="19751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3A5C0"/>
                </a:solidFill>
                <a:latin typeface="Segoe UI"/>
              </a:rPr>
              <a:t>Flask + Socket.IO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3A5C0"/>
                </a:solidFill>
                <a:latin typeface="Segoe UI"/>
              </a:rPr>
              <a:t>on Railway</a:t>
            </a:r>
          </a:p>
        </p:txBody>
      </p:sp>
      <p:sp>
        <p:nvSpPr>
          <p:cNvPr id="23" name="Chevron 22"/>
          <p:cNvSpPr/>
          <p:nvPr/>
        </p:nvSpPr>
        <p:spPr>
          <a:xfrm>
            <a:off x="4800600" y="2798064"/>
            <a:ext cx="228600" cy="256032"/>
          </a:xfrm>
          <a:prstGeom prst="chevron">
            <a:avLst/>
          </a:prstGeom>
          <a:solidFill>
            <a:srgbClr val="27375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91940" y="17373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3A5C0"/>
                </a:solidFill>
                <a:latin typeface="Segoe UI"/>
              </a:rPr>
              <a:t>REST · X-API-Key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47488" y="2157984"/>
            <a:ext cx="1975104" cy="1664208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715000" y="2359152"/>
            <a:ext cx="640080" cy="640080"/>
          </a:xfrm>
          <a:prstGeom prst="ellipse">
            <a:avLst/>
          </a:prstGeom>
          <a:solidFill>
            <a:srgbClr val="F472B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791809" y="2435961"/>
            <a:ext cx="486462" cy="486462"/>
          </a:xfrm>
          <a:prstGeom prst="ellipse">
            <a:avLst/>
          </a:prstGeom>
          <a:solidFill>
            <a:srgbClr val="F472B6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>
                <a:solidFill>
                  <a:srgbClr val="F3F7FF"/>
                </a:solidFill>
                <a:latin typeface="Segoe UI Emoji"/>
              </a:rPr>
              <a:t>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3090672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472B6"/>
                </a:solidFill>
                <a:latin typeface="Segoe UI Semibold"/>
              </a:rPr>
              <a:t>Raspberry 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3401568"/>
            <a:ext cx="19751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3A5C0"/>
                </a:solidFill>
                <a:latin typeface="Segoe UI"/>
              </a:rPr>
              <a:t>hand controller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3A5C0"/>
                </a:solidFill>
                <a:latin typeface="Segoe UI"/>
              </a:rPr>
              <a:t>Flask REST · :5001</a:t>
            </a:r>
          </a:p>
        </p:txBody>
      </p:sp>
      <p:sp>
        <p:nvSpPr>
          <p:cNvPr id="30" name="Chevron 29"/>
          <p:cNvSpPr/>
          <p:nvPr/>
        </p:nvSpPr>
        <p:spPr>
          <a:xfrm>
            <a:off x="7040880" y="2798064"/>
            <a:ext cx="228600" cy="256032"/>
          </a:xfrm>
          <a:prstGeom prst="chevron">
            <a:avLst/>
          </a:prstGeom>
          <a:solidFill>
            <a:srgbClr val="27375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32220" y="17373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3A5C0"/>
                </a:solidFill>
                <a:latin typeface="Segoe UI"/>
              </a:rPr>
              <a:t>I²C · SCL/SDA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87768" y="2157984"/>
            <a:ext cx="1975104" cy="1664208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955280" y="2359152"/>
            <a:ext cx="640080" cy="640080"/>
          </a:xfrm>
          <a:prstGeom prst="ellipse">
            <a:avLst/>
          </a:prstGeom>
          <a:solidFill>
            <a:srgbClr val="2DF59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032089" y="2435961"/>
            <a:ext cx="486462" cy="486462"/>
          </a:xfrm>
          <a:prstGeom prst="ellipse">
            <a:avLst/>
          </a:prstGeom>
          <a:solidFill>
            <a:srgbClr val="2DF59B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>
                <a:solidFill>
                  <a:srgbClr val="F3F7FF"/>
                </a:solidFill>
                <a:latin typeface="Segoe UI Emoji"/>
              </a:rPr>
              <a:t>🎛️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7768" y="3090672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DF59B"/>
                </a:solidFill>
                <a:latin typeface="Segoe UI Semibold"/>
              </a:rPr>
              <a:t>PCA9685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87768" y="3401568"/>
            <a:ext cx="19751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3A5C0"/>
                </a:solidFill>
                <a:latin typeface="Segoe UI"/>
              </a:rPr>
              <a:t>16-ch PWM driver</a:t>
            </a:r>
          </a:p>
        </p:txBody>
      </p:sp>
      <p:sp>
        <p:nvSpPr>
          <p:cNvPr id="37" name="Chevron 36"/>
          <p:cNvSpPr/>
          <p:nvPr/>
        </p:nvSpPr>
        <p:spPr>
          <a:xfrm>
            <a:off x="9281160" y="2798064"/>
            <a:ext cx="228600" cy="256032"/>
          </a:xfrm>
          <a:prstGeom prst="chevron">
            <a:avLst/>
          </a:prstGeom>
          <a:solidFill>
            <a:srgbClr val="27375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72500" y="17373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3A5C0"/>
                </a:solidFill>
                <a:latin typeface="Segoe UI"/>
              </a:rPr>
              <a:t>PWM · 50 Hz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28048" y="2157984"/>
            <a:ext cx="1975104" cy="1664208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195560" y="2359152"/>
            <a:ext cx="640080" cy="640080"/>
          </a:xfrm>
          <a:prstGeom prst="ellipse">
            <a:avLst/>
          </a:prstGeom>
          <a:solidFill>
            <a:srgbClr val="FBBF2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272369" y="2435961"/>
            <a:ext cx="486462" cy="486462"/>
          </a:xfrm>
          <a:prstGeom prst="ellipse">
            <a:avLst/>
          </a:prstGeom>
          <a:solidFill>
            <a:srgbClr val="FBBF24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>
                <a:solidFill>
                  <a:srgbClr val="F3F7FF"/>
                </a:solidFill>
                <a:latin typeface="Segoe UI Emoji"/>
              </a:rPr>
              <a:t>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8048" y="3090672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BBF24"/>
                </a:solidFill>
                <a:latin typeface="Segoe UI Semibold"/>
              </a:rPr>
              <a:t>12 servos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8048" y="3401568"/>
            <a:ext cx="19751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3A5C0"/>
                </a:solidFill>
                <a:latin typeface="Segoe UI"/>
              </a:rPr>
              <a:t>fingers + wrists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4078224"/>
            <a:ext cx="11064240" cy="658368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66928" y="4078224"/>
            <a:ext cx="54864" cy="6583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1248" y="426110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2D3EE"/>
                </a:solidFill>
                <a:latin typeface="Segoe UI Semibold"/>
              </a:rPr>
              <a:t>Tablet ⇄ Brain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4178808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3A5C0"/>
                </a:solidFill>
                <a:latin typeface="Segoe UI"/>
              </a:rPr>
              <a:t>Socket.IO messages over HTTP polling (Railway's server can't do raw WebSockets yet).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4809744"/>
            <a:ext cx="11064240" cy="658368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66928" y="4809744"/>
            <a:ext cx="54864" cy="65836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1248" y="499262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472B6"/>
                </a:solidFill>
                <a:latin typeface="Segoe UI Semibold"/>
              </a:rPr>
              <a:t>Brain ⇄ Pi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0" y="4910328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dirty="0">
                <a:solidFill>
                  <a:srgbClr val="93A5C0"/>
                </a:solidFill>
                <a:latin typeface="Segoe UI"/>
              </a:rPr>
              <a:t>The brain POSTs commands like /</a:t>
            </a:r>
            <a:r>
              <a:rPr sz="1100" b="0" i="0" dirty="0" err="1">
                <a:solidFill>
                  <a:srgbClr val="93A5C0"/>
                </a:solidFill>
                <a:latin typeface="Segoe UI"/>
              </a:rPr>
              <a:t>show_number</a:t>
            </a:r>
            <a:r>
              <a:rPr sz="1100" b="0" i="0" dirty="0">
                <a:solidFill>
                  <a:srgbClr val="93A5C0"/>
                </a:solidFill>
                <a:latin typeface="Segoe UI"/>
              </a:rPr>
              <a:t> to the Pi, signed with a secret X-API-Key.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541264"/>
            <a:ext cx="11064240" cy="658368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66928" y="5541264"/>
            <a:ext cx="54864" cy="658368"/>
          </a:xfrm>
          <a:prstGeom prst="rect">
            <a:avLst/>
          </a:prstGeom>
          <a:solidFill>
            <a:srgbClr val="2DF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1248" y="572414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F59B"/>
                </a:solidFill>
                <a:latin typeface="Segoe UI Semibold"/>
              </a:rPr>
              <a:t>Pi ⇄ Servos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08960" y="5641848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dirty="0">
                <a:solidFill>
                  <a:srgbClr val="93A5C0"/>
                </a:solidFill>
                <a:latin typeface="Segoe UI"/>
              </a:rPr>
              <a:t>The Pi speaks I²C to the PCA9685, which sends a 50 Hz PWM pulse to each of the 12 servos.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911"/>
              </a:gs>
              <a:gs pos="100000">
                <a:srgbClr val="0D14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5" y="-822960"/>
            <a:ext cx="4389120" cy="4389120"/>
          </a:xfrm>
          <a:prstGeom prst="ellipse">
            <a:avLst/>
          </a:prstGeom>
          <a:solidFill>
            <a:srgbClr val="2DF59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463" y="3291840"/>
            <a:ext cx="4389120" cy="438912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2DF59B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20624"/>
            <a:ext cx="3090672" cy="274320"/>
          </a:xfrm>
          <a:prstGeom prst="roundRect">
            <a:avLst>
              <a:gd name="adj" fmla="val 50000"/>
            </a:avLst>
          </a:prstGeom>
          <a:solidFill>
            <a:srgbClr val="2DF59B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DF59B"/>
                </a:solidFill>
                <a:latin typeface="Segoe UI Semibold"/>
              </a:rPr>
              <a:t>09 · WHAT IT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3F7FF"/>
                </a:solidFill>
                <a:latin typeface="Segoe UI Semibold"/>
              </a:rPr>
              <a:t>Maxi's skills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371600" cy="41148"/>
          </a:xfrm>
          <a:prstGeom prst="rect">
            <a:avLst/>
          </a:prstGeom>
          <a:solidFill>
            <a:srgbClr val="2DF59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Maxi  ·  6-Month Coding Bootcamp  ·  4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2377440" cy="713232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9808" y="1856232"/>
            <a:ext cx="420624" cy="420624"/>
          </a:xfrm>
          <a:prstGeom prst="ellipse">
            <a:avLst/>
          </a:prstGeom>
          <a:solidFill>
            <a:srgbClr val="8B7FF5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0282" y="1906706"/>
            <a:ext cx="319676" cy="319676"/>
          </a:xfrm>
          <a:prstGeom prst="ellipse">
            <a:avLst/>
          </a:prstGeom>
          <a:solidFill>
            <a:srgbClr val="8B7FF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>
                <a:solidFill>
                  <a:srgbClr val="F3F7FF"/>
                </a:solidFill>
                <a:latin typeface="Segoe UI Emoji"/>
              </a:rP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90195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B7FF5"/>
                </a:solidFill>
                <a:latin typeface="Segoe UI Semibold"/>
              </a:rPr>
              <a:t>Talk &amp; tutor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1700784"/>
            <a:ext cx="2377440" cy="713232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291840" y="1856232"/>
            <a:ext cx="420624" cy="420624"/>
          </a:xfrm>
          <a:prstGeom prst="ellipse">
            <a:avLst/>
          </a:prstGeom>
          <a:solidFill>
            <a:srgbClr val="22D3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342314" y="1906706"/>
            <a:ext cx="319676" cy="319676"/>
          </a:xfrm>
          <a:prstGeom prst="ellipse">
            <a:avLst/>
          </a:prstGeom>
          <a:solidFill>
            <a:srgbClr val="22D3EE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>
                <a:solidFill>
                  <a:srgbClr val="F3F7FF"/>
                </a:solidFill>
                <a:latin typeface="Segoe UI Emoji"/>
              </a:rPr>
              <a:t>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2" y="190195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egoe UI Semibold"/>
              </a:rPr>
              <a:t>Maths on fingers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542032"/>
            <a:ext cx="2377440" cy="713232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9808" y="2697480"/>
            <a:ext cx="420624" cy="420624"/>
          </a:xfrm>
          <a:prstGeom prst="ellipse">
            <a:avLst/>
          </a:prstGeom>
          <a:solidFill>
            <a:srgbClr val="2DF59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0282" y="2747954"/>
            <a:ext cx="319676" cy="319676"/>
          </a:xfrm>
          <a:prstGeom prst="ellipse">
            <a:avLst/>
          </a:prstGeom>
          <a:solidFill>
            <a:srgbClr val="2DF59B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>
                <a:solidFill>
                  <a:srgbClr val="F3F7FF"/>
                </a:solidFill>
                <a:latin typeface="Segoe UI Emoji"/>
              </a:rPr>
              <a:t>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74320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DF59B"/>
                </a:solidFill>
                <a:latin typeface="Segoe UI Semibold"/>
              </a:rPr>
              <a:t>Spelling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2542032"/>
            <a:ext cx="2377440" cy="713232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291840" y="2697480"/>
            <a:ext cx="420624" cy="420624"/>
          </a:xfrm>
          <a:prstGeom prst="ellipse">
            <a:avLst/>
          </a:prstGeom>
          <a:solidFill>
            <a:srgbClr val="F472B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342314" y="2747954"/>
            <a:ext cx="319676" cy="319676"/>
          </a:xfrm>
          <a:prstGeom prst="ellipse">
            <a:avLst/>
          </a:prstGeom>
          <a:solidFill>
            <a:srgbClr val="F472B6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>
                <a:solidFill>
                  <a:srgbClr val="F3F7FF"/>
                </a:solidFill>
                <a:latin typeface="Segoe UI Emoji"/>
              </a:rPr>
              <a:t>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2192" y="274320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472B6"/>
                </a:solidFill>
                <a:latin typeface="Segoe UI Semibold"/>
              </a:rPr>
              <a:t>Storytelling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383280"/>
            <a:ext cx="2377440" cy="713232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49808" y="3538728"/>
            <a:ext cx="420624" cy="420624"/>
          </a:xfrm>
          <a:prstGeom prst="ellipse">
            <a:avLst/>
          </a:prstGeom>
          <a:solidFill>
            <a:srgbClr val="FBBF2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00282" y="3589202"/>
            <a:ext cx="319676" cy="319676"/>
          </a:xfrm>
          <a:prstGeom prst="ellipse">
            <a:avLst/>
          </a:prstGeom>
          <a:solidFill>
            <a:srgbClr val="FBBF24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>
                <a:solidFill>
                  <a:srgbClr val="F3F7FF"/>
                </a:solidFill>
                <a:latin typeface="Segoe UI Emoji"/>
              </a:rPr>
              <a:t>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584448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Segoe UI Semibold"/>
              </a:rPr>
              <a:t>Quizzes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0" y="3383280"/>
            <a:ext cx="2377440" cy="713232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91840" y="3538728"/>
            <a:ext cx="420624" cy="420624"/>
          </a:xfrm>
          <a:prstGeom prst="ellipse">
            <a:avLst/>
          </a:prstGeom>
          <a:solidFill>
            <a:srgbClr val="22D3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42314" y="3589202"/>
            <a:ext cx="319676" cy="319676"/>
          </a:xfrm>
          <a:prstGeom prst="ellipse">
            <a:avLst/>
          </a:prstGeom>
          <a:solidFill>
            <a:srgbClr val="22D3EE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>
                <a:solidFill>
                  <a:srgbClr val="F3F7FF"/>
                </a:solidFill>
                <a:latin typeface="Segoe UI Emoji"/>
              </a:rPr>
              <a:t>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22192" y="3584448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egoe UI Semibold"/>
              </a:rPr>
              <a:t>Time &amp; date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224528"/>
            <a:ext cx="2377440" cy="713232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49808" y="4379976"/>
            <a:ext cx="420624" cy="420624"/>
          </a:xfrm>
          <a:prstGeom prst="ellipse">
            <a:avLst/>
          </a:prstGeom>
          <a:solidFill>
            <a:srgbClr val="8B7FF5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00282" y="4430450"/>
            <a:ext cx="319676" cy="319676"/>
          </a:xfrm>
          <a:prstGeom prst="ellipse">
            <a:avLst/>
          </a:prstGeom>
          <a:solidFill>
            <a:srgbClr val="8B7FF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>
                <a:solidFill>
                  <a:srgbClr val="F3F7FF"/>
                </a:solidFill>
                <a:latin typeface="Segoe UI Emoji"/>
              </a:rPr>
              <a:t>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42569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B7FF5"/>
                </a:solidFill>
                <a:latin typeface="Segoe UI Semibold"/>
              </a:rPr>
              <a:t>Remembers you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08960" y="4224528"/>
            <a:ext cx="2377440" cy="713232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291840" y="4379976"/>
            <a:ext cx="420624" cy="420624"/>
          </a:xfrm>
          <a:prstGeom prst="ellipse">
            <a:avLst/>
          </a:prstGeom>
          <a:solidFill>
            <a:srgbClr val="2DF59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342314" y="4430450"/>
            <a:ext cx="319676" cy="319676"/>
          </a:xfrm>
          <a:prstGeom prst="ellipse">
            <a:avLst/>
          </a:prstGeom>
          <a:solidFill>
            <a:srgbClr val="2DF59B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>
                <a:solidFill>
                  <a:srgbClr val="F3F7FF"/>
                </a:solidFill>
                <a:latin typeface="Segoe UI Emoji"/>
              </a:rPr>
              <a:t>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22192" y="442569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DF59B"/>
                </a:solidFill>
                <a:latin typeface="Segoe UI Semibold"/>
              </a:rPr>
              <a:t>Face feelings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065776"/>
            <a:ext cx="2377440" cy="713232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49808" y="5221224"/>
            <a:ext cx="420624" cy="420624"/>
          </a:xfrm>
          <a:prstGeom prst="ellipse">
            <a:avLst/>
          </a:prstGeom>
          <a:solidFill>
            <a:srgbClr val="F472B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00282" y="5271698"/>
            <a:ext cx="319676" cy="319676"/>
          </a:xfrm>
          <a:prstGeom prst="ellipse">
            <a:avLst/>
          </a:prstGeom>
          <a:solidFill>
            <a:srgbClr val="F472B6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>
                <a:solidFill>
                  <a:srgbClr val="F3F7FF"/>
                </a:solidFill>
                <a:latin typeface="Segoe UI Emoji"/>
              </a:rPr>
              <a:t>✌️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526694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472B6"/>
                </a:solidFill>
                <a:latin typeface="Segoe UI Semibold"/>
              </a:rPr>
              <a:t>Hand gestures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108960" y="5065776"/>
            <a:ext cx="2377440" cy="713232"/>
          </a:xfrm>
          <a:prstGeom prst="roundRect">
            <a:avLst>
              <a:gd name="adj" fmla="val 5500"/>
            </a:avLst>
          </a:prstGeom>
          <a:solidFill>
            <a:srgbClr val="121A28">
              <a:alpha val="84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3291840" y="5221224"/>
            <a:ext cx="420624" cy="420624"/>
          </a:xfrm>
          <a:prstGeom prst="ellipse">
            <a:avLst/>
          </a:prstGeom>
          <a:solidFill>
            <a:srgbClr val="FBBF2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342314" y="5271698"/>
            <a:ext cx="319676" cy="319676"/>
          </a:xfrm>
          <a:prstGeom prst="ellipse">
            <a:avLst/>
          </a:prstGeom>
          <a:solidFill>
            <a:srgbClr val="FBBF24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>
                <a:solidFill>
                  <a:srgbClr val="F3F7FF"/>
                </a:solidFill>
                <a:latin typeface="Segoe UI Emoji"/>
              </a:rPr>
              <a:t>🗣️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22192" y="526694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Segoe UI Semibold"/>
              </a:rPr>
              <a:t>"Hey Maxi" wake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06440" y="1700784"/>
            <a:ext cx="5824728" cy="3648456"/>
          </a:xfrm>
          <a:prstGeom prst="roundRect">
            <a:avLst>
              <a:gd name="adj" fmla="val 5500"/>
            </a:avLst>
          </a:prstGeom>
          <a:solidFill>
            <a:srgbClr val="060911"/>
          </a:solidFill>
          <a:ln w="12700">
            <a:solidFill>
              <a:srgbClr val="2DF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2" name="Picture 51" descr="robot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62" y="1810512"/>
            <a:ext cx="1506884" cy="34290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66928" y="59436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93A5C0"/>
                </a:solidFill>
                <a:latin typeface="Segoe UI"/>
              </a:rPr>
              <a:t>Gestures the hands know: fist · peace · wave · count 1–5. Maths ≤ 10 is counted out on real fingers.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911"/>
              </a:gs>
              <a:gs pos="100000">
                <a:srgbClr val="0D14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43889" y="-1234440"/>
            <a:ext cx="4389120" cy="4389120"/>
          </a:xfrm>
          <a:prstGeom prst="ellipse">
            <a:avLst/>
          </a:prstGeom>
          <a:solidFill>
            <a:srgbClr val="8B7FF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34131" y="3429000"/>
            <a:ext cx="4389120" cy="438912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8B7FF5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20624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8B7FF5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dirty="0">
                <a:solidFill>
                  <a:srgbClr val="8B7FF5"/>
                </a:solidFill>
                <a:latin typeface="Segoe UI Semibold"/>
              </a:rPr>
              <a:t>10 ·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3F7FF"/>
                </a:solidFill>
                <a:latin typeface="Segoe UI Semibold"/>
              </a:rPr>
              <a:t>How we know it actually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371600" cy="41148"/>
          </a:xfrm>
          <a:prstGeom prst="rect">
            <a:avLst/>
          </a:prstGeom>
          <a:solidFill>
            <a:srgbClr val="8B7FF5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Maxi  ·  6-Month Coding Bootcamp  ·  4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5486400" cy="1481328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8" y="1975104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07084" y="2040940"/>
            <a:ext cx="416968" cy="416968"/>
          </a:xfrm>
          <a:prstGeom prst="ellipse">
            <a:avLst/>
          </a:prstGeom>
          <a:solidFill>
            <a:srgbClr val="22D3EE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>
                <a:solidFill>
                  <a:srgbClr val="F3F7FF"/>
                </a:solidFill>
                <a:latin typeface="Segoe UI Emoji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92024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egoe UI Semibold"/>
              </a:rPr>
              <a:t>Automated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304288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3A5C0"/>
                </a:solidFill>
                <a:latin typeface="Segoe UI"/>
              </a:rPr>
              <a:t>We wrote tests that run with no robot attached — the voice engine, the memory, the maths and the interrupt logic all have their own checks that must pass.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700784"/>
            <a:ext cx="5486400" cy="1481328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19088" y="1975104"/>
            <a:ext cx="548640" cy="548640"/>
          </a:xfrm>
          <a:prstGeom prst="ellipse">
            <a:avLst/>
          </a:prstGeom>
          <a:solidFill>
            <a:srgbClr val="8B7FF5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84924" y="2040940"/>
            <a:ext cx="416968" cy="416968"/>
          </a:xfrm>
          <a:prstGeom prst="ellipse">
            <a:avLst/>
          </a:prstGeom>
          <a:solidFill>
            <a:srgbClr val="8B7FF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>
                <a:solidFill>
                  <a:srgbClr val="F3F7FF"/>
                </a:solidFill>
                <a:latin typeface="Segoe UI Emoji"/>
              </a:rPr>
              <a:t>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192024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7FF5"/>
                </a:solidFill>
                <a:latin typeface="Segoe UI Semibold"/>
              </a:rPr>
              <a:t>Simulation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2304288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3A5C0"/>
                </a:solidFill>
                <a:latin typeface="Segoe UI"/>
              </a:rPr>
              <a:t>The whole brain runs on a plain laptop with the hands simulated, so we could build and debug without the physical robot in front of 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346704"/>
            <a:ext cx="5486400" cy="1481328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1248" y="3621024"/>
            <a:ext cx="548640" cy="548640"/>
          </a:xfrm>
          <a:prstGeom prst="ellipse">
            <a:avLst/>
          </a:prstGeom>
          <a:solidFill>
            <a:srgbClr val="2DF59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07084" y="3686860"/>
            <a:ext cx="416968" cy="416968"/>
          </a:xfrm>
          <a:prstGeom prst="ellipse">
            <a:avLst/>
          </a:prstGeom>
          <a:solidFill>
            <a:srgbClr val="2DF59B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>
                <a:solidFill>
                  <a:srgbClr val="F3F7FF"/>
                </a:solidFill>
                <a:latin typeface="Segoe UI Emoji"/>
              </a:rPr>
              <a:t>🎚️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356616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DF59B"/>
                </a:solidFill>
                <a:latin typeface="Segoe UI Semibold"/>
              </a:rPr>
              <a:t>Calibration screen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3950208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3A5C0"/>
                </a:solidFill>
                <a:latin typeface="Segoe UI"/>
              </a:rPr>
              <a:t>A settings page lets us drag each joint to its real open and closed angle and save it — that is where the per-finger numbers come from.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346704"/>
            <a:ext cx="5486400" cy="1481328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19088" y="3621024"/>
            <a:ext cx="548640" cy="548640"/>
          </a:xfrm>
          <a:prstGeom prst="ellipse">
            <a:avLst/>
          </a:prstGeom>
          <a:solidFill>
            <a:srgbClr val="F472B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84924" y="3686860"/>
            <a:ext cx="416968" cy="416968"/>
          </a:xfrm>
          <a:prstGeom prst="ellipse">
            <a:avLst/>
          </a:prstGeom>
          <a:solidFill>
            <a:srgbClr val="F472B6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>
                <a:solidFill>
                  <a:srgbClr val="F3F7FF"/>
                </a:solidFill>
                <a:latin typeface="Segoe UI Emoji"/>
              </a:rPr>
              <a:t>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356616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472B6"/>
                </a:solidFill>
                <a:latin typeface="Segoe UI Semibold"/>
              </a:rPr>
              <a:t>Real-device passes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3950208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3A5C0"/>
                </a:solidFill>
                <a:latin typeface="Segoe UI"/>
              </a:rPr>
              <a:t>Then we test on the actual tablet and hands, and tune the thresholds — wake sensitivity, timing — until it feels right.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230368"/>
            <a:ext cx="11064240" cy="822960"/>
          </a:xfrm>
          <a:prstGeom prst="roundRect">
            <a:avLst>
              <a:gd name="adj" fmla="val 5500"/>
            </a:avLst>
          </a:prstGeom>
          <a:solidFill>
            <a:srgbClr val="182233">
              <a:alpha val="88000"/>
            </a:srgbClr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413248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Segoe UI Semibold"/>
              </a:rPr>
              <a:t>Honest status: 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F3F7FF"/>
                </a:solidFill>
                <a:latin typeface="Segoe UI"/>
              </a:rPr>
              <a:t>the software is well tested; the physical hands still need the most tuning. We are up-front about what is solid and what is still rough.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911"/>
              </a:gs>
              <a:gs pos="100000">
                <a:srgbClr val="0D14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3363" y="-480060"/>
            <a:ext cx="4389120" cy="4389120"/>
          </a:xfrm>
          <a:prstGeom prst="ellipse">
            <a:avLst/>
          </a:prstGeom>
          <a:solidFill>
            <a:srgbClr val="F472B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949211" y="2743200"/>
            <a:ext cx="4389120" cy="438912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901287" y="3977640"/>
            <a:ext cx="4389120" cy="4389120"/>
          </a:xfrm>
          <a:prstGeom prst="ellipse">
            <a:avLst/>
          </a:prstGeom>
          <a:solidFill>
            <a:srgbClr val="8B7FF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632704" y="1051560"/>
            <a:ext cx="914400" cy="914400"/>
          </a:xfrm>
          <a:prstGeom prst="ellipse">
            <a:avLst/>
          </a:prstGeom>
          <a:solidFill>
            <a:srgbClr val="F472B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742432" y="1161288"/>
            <a:ext cx="694944" cy="694944"/>
          </a:xfrm>
          <a:prstGeom prst="ellipse">
            <a:avLst/>
          </a:prstGeom>
          <a:solidFill>
            <a:srgbClr val="F472B6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3400">
                <a:solidFill>
                  <a:srgbClr val="F3F7FF"/>
                </a:solidFill>
                <a:latin typeface="Segoe UI Emoji"/>
              </a:rPr>
              <a:t>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1" i="0">
                <a:solidFill>
                  <a:srgbClr val="F3F7FF"/>
                </a:solidFill>
                <a:latin typeface="Segoe UI Semibold"/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27248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2D3EE"/>
                </a:solidFill>
                <a:latin typeface="Segoe UI"/>
              </a:rPr>
              <a:t>We say "Hey Maxi", ask a maths question, and its fingers answer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977639"/>
            <a:ext cx="2395728" cy="914400"/>
          </a:xfrm>
          <a:prstGeom prst="roundRect">
            <a:avLst>
              <a:gd name="adj" fmla="val 5500"/>
            </a:avLst>
          </a:prstGeom>
          <a:solidFill>
            <a:srgbClr val="182233">
              <a:alpha val="80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53896" y="411480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22D3EE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248" y="42062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3F7FF"/>
                </a:solidFill>
                <a:latin typeface="Segoe UI"/>
              </a:rPr>
              <a:t>Say "Hey Maxi"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7328" y="3977639"/>
            <a:ext cx="2395728" cy="914400"/>
          </a:xfrm>
          <a:prstGeom prst="roundRect">
            <a:avLst>
              <a:gd name="adj" fmla="val 5500"/>
            </a:avLst>
          </a:prstGeom>
          <a:solidFill>
            <a:srgbClr val="182233">
              <a:alpha val="80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86784" y="411480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8B7FF5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42062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3F7FF"/>
                </a:solidFill>
                <a:latin typeface="Segoe UI"/>
              </a:rPr>
              <a:t>Ask a sum ≤ 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3977639"/>
            <a:ext cx="2395728" cy="914400"/>
          </a:xfrm>
          <a:prstGeom prst="roundRect">
            <a:avLst>
              <a:gd name="adj" fmla="val 5500"/>
            </a:avLst>
          </a:prstGeom>
          <a:solidFill>
            <a:srgbClr val="182233">
              <a:alpha val="80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411480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2DF59B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4" y="42062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3F7FF"/>
                </a:solidFill>
                <a:latin typeface="Segoe UI"/>
              </a:rPr>
              <a:t>Watch the fingers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33104" y="3977639"/>
            <a:ext cx="2395728" cy="914400"/>
          </a:xfrm>
          <a:prstGeom prst="roundRect">
            <a:avLst>
              <a:gd name="adj" fmla="val 5500"/>
            </a:avLst>
          </a:prstGeom>
          <a:solidFill>
            <a:srgbClr val="182233">
              <a:alpha val="80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411480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472B6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2912" y="42062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3F7FF"/>
                </a:solidFill>
                <a:latin typeface="Segoe UI"/>
              </a:rPr>
              <a:t>Try a word / 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38928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FBBF24"/>
                </a:solidFill>
                <a:latin typeface="Segoe UI"/>
              </a:rPr>
              <a:t>If anything misbehaves: we do NOT debug on stage — we cut to the photo and keep talking.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Maxi  ·  6-Month Coding Bootcamp  ·  4 August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911"/>
              </a:gs>
              <a:gs pos="100000">
                <a:srgbClr val="0D14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43889" y="-1234440"/>
            <a:ext cx="4389120" cy="4389120"/>
          </a:xfrm>
          <a:prstGeom prst="ellipse">
            <a:avLst/>
          </a:prstGeom>
          <a:solidFill>
            <a:srgbClr val="8B7FF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34131" y="3429000"/>
            <a:ext cx="4389120" cy="438912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FBBF2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20624"/>
            <a:ext cx="3236976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BBF24"/>
                </a:solidFill>
                <a:latin typeface="Segoe UI Semibold"/>
              </a:rPr>
              <a:t>11 · WHAT WE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3F7FF"/>
                </a:solidFill>
                <a:latin typeface="Segoe UI Semibold"/>
              </a:rPr>
              <a:t>The parts that did not go smoothly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371600" cy="41148"/>
          </a:xfrm>
          <a:prstGeom prst="rect">
            <a:avLst/>
          </a:prstGeom>
          <a:solidFill>
            <a:srgbClr val="FBBF2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Maxi  ·  6-Month Coding Bootcamp  ·  4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3584448" cy="192024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04672" y="1938528"/>
            <a:ext cx="512064" cy="512064"/>
          </a:xfrm>
          <a:prstGeom prst="ellipse">
            <a:avLst/>
          </a:prstGeom>
          <a:solidFill>
            <a:srgbClr val="FBBF2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6119" y="1999975"/>
            <a:ext cx="389170" cy="389170"/>
          </a:xfrm>
          <a:prstGeom prst="ellipse">
            <a:avLst/>
          </a:prstGeom>
          <a:solidFill>
            <a:srgbClr val="FBBF24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>
                <a:solidFill>
                  <a:srgbClr val="F3F7FF"/>
                </a:solidFill>
                <a:latin typeface="Segoe UI Emoji"/>
              </a:rPr>
              <a:t>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1993392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BBF24"/>
                </a:solidFill>
                <a:latin typeface="Segoe UI Semibold"/>
              </a:rPr>
              <a:t>Our own model wouldn't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615184"/>
            <a:ext cx="31272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3A5C0"/>
                </a:solidFill>
                <a:latin typeface="Segoe UI"/>
              </a:rPr>
              <a:t>We trained one first, but had no compute and no funding for the hardware — so we moved to a free cloud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7" y="1700784"/>
            <a:ext cx="3584448" cy="192024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53711" y="1938528"/>
            <a:ext cx="512064" cy="512064"/>
          </a:xfrm>
          <a:prstGeom prst="ellipse">
            <a:avLst/>
          </a:prstGeom>
          <a:solidFill>
            <a:srgbClr val="F8717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15158" y="1999975"/>
            <a:ext cx="389170" cy="389170"/>
          </a:xfrm>
          <a:prstGeom prst="ellipse">
            <a:avLst/>
          </a:prstGeom>
          <a:solidFill>
            <a:srgbClr val="F87171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>
                <a:solidFill>
                  <a:srgbClr val="F3F7FF"/>
                </a:solidFill>
                <a:latin typeface="Segoe UI Emoji"/>
              </a:rPr>
              <a:t>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1" y="1993392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87171"/>
                </a:solidFill>
                <a:latin typeface="Segoe UI Semibold"/>
              </a:rPr>
              <a:t>It talked to itself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1" y="2615184"/>
            <a:ext cx="31272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3A5C0"/>
                </a:solidFill>
                <a:latin typeface="Segoe UI"/>
              </a:rPr>
              <a:t>The robot heard its own voice and answered itself in a loop. We fixed it by only listening in the LISTENING state.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6" y="1700784"/>
            <a:ext cx="3584448" cy="192024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02750" y="1938528"/>
            <a:ext cx="512064" cy="512064"/>
          </a:xfrm>
          <a:prstGeom prst="ellipse">
            <a:avLst/>
          </a:prstGeom>
          <a:solidFill>
            <a:srgbClr val="22D3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64197" y="1999975"/>
            <a:ext cx="389170" cy="389170"/>
          </a:xfrm>
          <a:prstGeom prst="ellipse">
            <a:avLst/>
          </a:prstGeom>
          <a:solidFill>
            <a:srgbClr val="22D3EE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>
                <a:solidFill>
                  <a:srgbClr val="F3F7FF"/>
                </a:solidFill>
                <a:latin typeface="Segoe UI Emoji"/>
              </a:rPr>
              <a:t>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0" y="1993392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Segoe UI Semibold"/>
              </a:rPr>
              <a:t>The mic beeped non-stop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0" y="2615184"/>
            <a:ext cx="31272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3A5C0"/>
                </a:solidFill>
                <a:latin typeface="Segoe UI"/>
              </a:rPr>
              <a:t>Always-on listening beeped on every phrase. We switched to wake-word + tap-to-talk so it is quiet until spoken 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785615"/>
            <a:ext cx="3584448" cy="192024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04672" y="4023359"/>
            <a:ext cx="512064" cy="512064"/>
          </a:xfrm>
          <a:prstGeom prst="ellipse">
            <a:avLst/>
          </a:prstGeom>
          <a:solidFill>
            <a:srgbClr val="8B7FF5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66119" y="4084806"/>
            <a:ext cx="389170" cy="389170"/>
          </a:xfrm>
          <a:prstGeom prst="ellipse">
            <a:avLst/>
          </a:prstGeom>
          <a:solidFill>
            <a:srgbClr val="8B7FF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>
                <a:solidFill>
                  <a:srgbClr val="F3F7FF"/>
                </a:solidFill>
                <a:latin typeface="Segoe UI Emoji"/>
              </a:rPr>
              <a:t>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4078223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B7FF5"/>
                </a:solidFill>
                <a:latin typeface="Segoe UI Semibold"/>
              </a:rPr>
              <a:t>A tool went paid overnight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700015"/>
            <a:ext cx="31272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3A5C0"/>
                </a:solidFill>
                <a:latin typeface="Segoe UI"/>
              </a:rPr>
              <a:t>Our first wake-word engine started requiring a company account, so we swapped in a free, offline one (Vosk).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5967" y="3785615"/>
            <a:ext cx="3584448" cy="192024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53711" y="4023359"/>
            <a:ext cx="512064" cy="512064"/>
          </a:xfrm>
          <a:prstGeom prst="ellipse">
            <a:avLst/>
          </a:prstGeom>
          <a:solidFill>
            <a:srgbClr val="2DF59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615158" y="4084806"/>
            <a:ext cx="389170" cy="389170"/>
          </a:xfrm>
          <a:prstGeom prst="ellipse">
            <a:avLst/>
          </a:prstGeom>
          <a:solidFill>
            <a:srgbClr val="2DF59B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>
                <a:solidFill>
                  <a:srgbClr val="F3F7FF"/>
                </a:solidFill>
                <a:latin typeface="Segoe UI Emoji"/>
              </a:rPr>
              <a:t>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3791" y="4078223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F59B"/>
                </a:solidFill>
                <a:latin typeface="Segoe UI Semibold"/>
              </a:rPr>
              <a:t>The cloud forgot the child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1" y="4700015"/>
            <a:ext cx="31272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3A5C0"/>
                </a:solidFill>
                <a:latin typeface="Segoe UI"/>
              </a:rPr>
              <a:t>Railway wipes its disk on every deploy, so Maxi's memory reset. We attached a permanent volume to keep it.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5006" y="3785615"/>
            <a:ext cx="3584448" cy="192024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302750" y="4023359"/>
            <a:ext cx="512064" cy="512064"/>
          </a:xfrm>
          <a:prstGeom prst="ellipse">
            <a:avLst/>
          </a:prstGeom>
          <a:solidFill>
            <a:srgbClr val="F472B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364197" y="4084806"/>
            <a:ext cx="389170" cy="389170"/>
          </a:xfrm>
          <a:prstGeom prst="ellipse">
            <a:avLst/>
          </a:prstGeom>
          <a:solidFill>
            <a:srgbClr val="F472B6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>
                <a:solidFill>
                  <a:srgbClr val="F3F7FF"/>
                </a:solidFill>
                <a:latin typeface="Segoe UI Emoji"/>
              </a:rPr>
              <a:t>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42830" y="4078223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472B6"/>
                </a:solidFill>
                <a:latin typeface="Segoe UI Semibold"/>
              </a:rPr>
              <a:t>Spelling came out garbled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0" y="4700015"/>
            <a:ext cx="31272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93A5C0"/>
                </a:solidFill>
                <a:latin typeface="Segoe UI"/>
              </a:rPr>
              <a:t>The voice ran letters together. With no SSML available we found a trick — "B! A! N!" — that forces clean letters.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911"/>
              </a:gs>
              <a:gs pos="100000">
                <a:srgbClr val="0D14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5" y="-822960"/>
            <a:ext cx="4389120" cy="4389120"/>
          </a:xfrm>
          <a:prstGeom prst="ellipse">
            <a:avLst/>
          </a:prstGeom>
          <a:solidFill>
            <a:srgbClr val="F87171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68380" y="3154680"/>
            <a:ext cx="4389120" cy="4389120"/>
          </a:xfrm>
          <a:prstGeom prst="ellipse">
            <a:avLst/>
          </a:prstGeom>
          <a:solidFill>
            <a:srgbClr val="8B7FF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F87171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420624"/>
            <a:ext cx="2944368" cy="274320"/>
          </a:xfrm>
          <a:prstGeom prst="roundRect">
            <a:avLst>
              <a:gd name="adj" fmla="val 50000"/>
            </a:avLst>
          </a:prstGeom>
          <a:solidFill>
            <a:srgbClr val="F87171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87171"/>
                </a:solidFill>
                <a:latin typeface="Segoe UI Semibold"/>
              </a:rPr>
              <a:t>12 · LIMITS &amp;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3F7FF"/>
                </a:solidFill>
                <a:latin typeface="Segoe UI Semibold"/>
              </a:rPr>
              <a:t>Being honest about what Maxi is — and isn't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371600" cy="41148"/>
          </a:xfrm>
          <a:prstGeom prst="rect">
            <a:avLst/>
          </a:prstGeom>
          <a:solidFill>
            <a:srgbClr val="F8717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Maxi  ·  6-Month Coding Bootcamp  ·  4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5486400" cy="338328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8" y="1956816"/>
            <a:ext cx="530352" cy="530352"/>
          </a:xfrm>
          <a:prstGeom prst="ellipse">
            <a:avLst/>
          </a:prstGeom>
          <a:solidFill>
            <a:srgbClr val="F8717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04890" y="2020458"/>
            <a:ext cx="403068" cy="403068"/>
          </a:xfrm>
          <a:prstGeom prst="ellipse">
            <a:avLst/>
          </a:prstGeom>
          <a:solidFill>
            <a:srgbClr val="F87171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>
                <a:solidFill>
                  <a:srgbClr val="F3F7FF"/>
                </a:solidFill>
                <a:latin typeface="Segoe UI Emoji"/>
              </a:rP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0116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87171"/>
                </a:solidFill>
                <a:latin typeface="Segoe UI Semibold"/>
              </a:rPr>
              <a:t>What it can't do yet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2679192"/>
            <a:ext cx="82296" cy="82296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2596896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It needs the internet — the brain is in the cloud.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3081528"/>
            <a:ext cx="82296" cy="82296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33856" y="2999232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It talks to one child at a time, not a group.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3483864"/>
            <a:ext cx="82296" cy="82296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33856" y="3401568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Hearing only — no camera, no eyes yet.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3886200"/>
            <a:ext cx="82296" cy="82296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33856" y="3803904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The brain is a shared cloud model, not our own.</a:t>
            </a:r>
          </a:p>
        </p:txBody>
      </p:sp>
      <p:sp>
        <p:nvSpPr>
          <p:cNvPr id="23" name="Oval 22"/>
          <p:cNvSpPr/>
          <p:nvPr/>
        </p:nvSpPr>
        <p:spPr>
          <a:xfrm>
            <a:off x="896112" y="4288536"/>
            <a:ext cx="82296" cy="82296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33856" y="42062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The hands need calibrating; a servo can mis-move.</a:t>
            </a:r>
          </a:p>
        </p:txBody>
      </p:sp>
      <p:sp>
        <p:nvSpPr>
          <p:cNvPr id="25" name="Oval 24"/>
          <p:cNvSpPr/>
          <p:nvPr/>
        </p:nvSpPr>
        <p:spPr>
          <a:xfrm>
            <a:off x="896112" y="4690872"/>
            <a:ext cx="82296" cy="82296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33856" y="4608576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It is a learning aid, not a certified teacher.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1700784"/>
            <a:ext cx="5303520" cy="3383280"/>
          </a:xfrm>
          <a:prstGeom prst="roundRect">
            <a:avLst>
              <a:gd name="adj" fmla="val 5500"/>
            </a:avLst>
          </a:prstGeom>
          <a:solidFill>
            <a:srgbClr val="121A28">
              <a:alpha val="86000"/>
            </a:srgbClr>
          </a:solidFill>
          <a:ln w="12700">
            <a:solidFill>
              <a:srgbClr val="2DF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601968" y="1956816"/>
            <a:ext cx="530352" cy="530352"/>
          </a:xfrm>
          <a:prstGeom prst="ellipse">
            <a:avLst/>
          </a:prstGeom>
          <a:solidFill>
            <a:srgbClr val="2DF59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665610" y="2020458"/>
            <a:ext cx="403068" cy="403068"/>
          </a:xfrm>
          <a:prstGeom prst="ellipse">
            <a:avLst/>
          </a:prstGeom>
          <a:solidFill>
            <a:srgbClr val="2DF59B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>
                <a:solidFill>
                  <a:srgbClr val="F3F7FF"/>
                </a:solidFill>
                <a:latin typeface="Segoe UI Emoji"/>
              </a:rPr>
              <a:t>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8624" y="20116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DF59B"/>
                </a:solidFill>
                <a:latin typeface="Segoe UI Semibold"/>
              </a:rPr>
              <a:t>Where we'd take it next</a:t>
            </a:r>
          </a:p>
        </p:txBody>
      </p:sp>
      <p:sp>
        <p:nvSpPr>
          <p:cNvPr id="31" name="Oval 30"/>
          <p:cNvSpPr/>
          <p:nvPr/>
        </p:nvSpPr>
        <p:spPr>
          <a:xfrm>
            <a:off x="6656832" y="2679192"/>
            <a:ext cx="82296" cy="82296"/>
          </a:xfrm>
          <a:prstGeom prst="ellipse">
            <a:avLst/>
          </a:prstGeom>
          <a:solidFill>
            <a:srgbClr val="2DF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94576" y="2596896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F3F7FF"/>
                </a:solidFill>
                <a:latin typeface="Segoe UI Semibold"/>
              </a:rPr>
              <a:t>Run our own model —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when we have the compute and the funding for it</a:t>
            </a:r>
          </a:p>
        </p:txBody>
      </p:sp>
      <p:sp>
        <p:nvSpPr>
          <p:cNvPr id="33" name="Oval 32"/>
          <p:cNvSpPr/>
          <p:nvPr/>
        </p:nvSpPr>
        <p:spPr>
          <a:xfrm>
            <a:off x="6656832" y="3081528"/>
            <a:ext cx="82296" cy="82296"/>
          </a:xfrm>
          <a:prstGeom prst="ellipse">
            <a:avLst/>
          </a:prstGeom>
          <a:solidFill>
            <a:srgbClr val="2DF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94576" y="2999232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F3F7FF"/>
                </a:solidFill>
                <a:latin typeface="Segoe UI Semibold"/>
              </a:rPr>
              <a:t>Give it eyes —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a camera, so it can see the child and the page</a:t>
            </a:r>
          </a:p>
        </p:txBody>
      </p:sp>
      <p:sp>
        <p:nvSpPr>
          <p:cNvPr id="35" name="Oval 34"/>
          <p:cNvSpPr/>
          <p:nvPr/>
        </p:nvSpPr>
        <p:spPr>
          <a:xfrm>
            <a:off x="6656832" y="3483864"/>
            <a:ext cx="82296" cy="82296"/>
          </a:xfrm>
          <a:prstGeom prst="ellipse">
            <a:avLst/>
          </a:prstGeom>
          <a:solidFill>
            <a:srgbClr val="2DF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94576" y="3401568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F3F7FF"/>
                </a:solidFill>
                <a:latin typeface="Segoe UI Semibold"/>
              </a:rPr>
              <a:t>More of the body —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arms and a moving head, not just hands</a:t>
            </a:r>
          </a:p>
        </p:txBody>
      </p:sp>
      <p:sp>
        <p:nvSpPr>
          <p:cNvPr id="37" name="Oval 36"/>
          <p:cNvSpPr/>
          <p:nvPr/>
        </p:nvSpPr>
        <p:spPr>
          <a:xfrm>
            <a:off x="6656832" y="3886200"/>
            <a:ext cx="82296" cy="82296"/>
          </a:xfrm>
          <a:prstGeom prst="ellipse">
            <a:avLst/>
          </a:prstGeom>
          <a:solidFill>
            <a:srgbClr val="2DF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94576" y="3803904"/>
            <a:ext cx="4526280" cy="405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 dirty="0">
                <a:solidFill>
                  <a:srgbClr val="F3F7FF"/>
                </a:solidFill>
                <a:latin typeface="Segoe UI Semibold"/>
              </a:rPr>
              <a:t>Work offline —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150" b="0" i="0" dirty="0">
                <a:solidFill>
                  <a:srgbClr val="93A5C0"/>
                </a:solidFill>
                <a:latin typeface="Segoe UI"/>
              </a:rPr>
              <a:t>so,</a:t>
            </a:r>
            <a:r>
              <a:rPr sz="1150" b="0" i="0" dirty="0">
                <a:solidFill>
                  <a:srgbClr val="93A5C0"/>
                </a:solidFill>
                <a:latin typeface="Segoe UI"/>
              </a:rPr>
              <a:t> it runs without the internet</a:t>
            </a:r>
          </a:p>
        </p:txBody>
      </p:sp>
      <p:sp>
        <p:nvSpPr>
          <p:cNvPr id="39" name="Oval 38"/>
          <p:cNvSpPr/>
          <p:nvPr/>
        </p:nvSpPr>
        <p:spPr>
          <a:xfrm>
            <a:off x="6656832" y="4288536"/>
            <a:ext cx="82296" cy="82296"/>
          </a:xfrm>
          <a:prstGeom prst="ellipse">
            <a:avLst/>
          </a:prstGeom>
          <a:solidFill>
            <a:srgbClr val="2DF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94576" y="4206240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F3F7FF"/>
                </a:solidFill>
                <a:latin typeface="Segoe UI Semibold"/>
              </a:rPr>
              <a:t>Speak local languages —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Hausa and Kanuri, not only English</a:t>
            </a:r>
          </a:p>
        </p:txBody>
      </p:sp>
      <p:sp>
        <p:nvSpPr>
          <p:cNvPr id="41" name="Oval 40"/>
          <p:cNvSpPr/>
          <p:nvPr/>
        </p:nvSpPr>
        <p:spPr>
          <a:xfrm>
            <a:off x="6656832" y="4690872"/>
            <a:ext cx="82296" cy="82296"/>
          </a:xfrm>
          <a:prstGeom prst="ellipse">
            <a:avLst/>
          </a:prstGeom>
          <a:solidFill>
            <a:srgbClr val="2DF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94576" y="4608576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F3F7FF"/>
                </a:solidFill>
                <a:latin typeface="Segoe UI Semibold"/>
              </a:rPr>
              <a:t>Teach a whole group —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93A5C0"/>
                </a:solidFill>
                <a:latin typeface="Segoe UI"/>
              </a:rPr>
              <a:t>more than one child at once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532120"/>
            <a:ext cx="11064240" cy="804672"/>
          </a:xfrm>
          <a:prstGeom prst="roundRect">
            <a:avLst>
              <a:gd name="adj" fmla="val 5500"/>
            </a:avLst>
          </a:prstGeom>
          <a:solidFill>
            <a:srgbClr val="182233">
              <a:alpha val="88000"/>
            </a:srgbClr>
          </a:solidFill>
          <a:ln w="12700">
            <a:solidFill>
              <a:srgbClr val="8B7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5705856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8B7FF5"/>
                </a:solidFill>
                <a:latin typeface="Segoe UI Semibold"/>
              </a:rPr>
              <a:t>The point was never a finished product.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F3F7FF"/>
                </a:solidFill>
                <a:latin typeface="Segoe UI"/>
              </a:rPr>
              <a:t>It was to build something real that could one day help a child learn — and to prove to ourselves that we could.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911"/>
              </a:gs>
              <a:gs pos="100000">
                <a:srgbClr val="0D14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7612" y="-548640"/>
            <a:ext cx="4389120" cy="4389120"/>
          </a:xfrm>
          <a:prstGeom prst="ellipse">
            <a:avLst/>
          </a:prstGeom>
          <a:solidFill>
            <a:srgbClr val="8B7FF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558796" y="3017520"/>
            <a:ext cx="4389120" cy="438912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901287" y="4114800"/>
            <a:ext cx="4389120" cy="4389120"/>
          </a:xfrm>
          <a:prstGeom prst="ellipse">
            <a:avLst/>
          </a:prstGeom>
          <a:solidFill>
            <a:srgbClr val="F472B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632704" y="1051560"/>
            <a:ext cx="914400" cy="914400"/>
          </a:xfrm>
          <a:prstGeom prst="ellipse">
            <a:avLst/>
          </a:prstGeom>
          <a:solidFill>
            <a:srgbClr val="8B7FF5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742432" y="1161288"/>
            <a:ext cx="694944" cy="694944"/>
          </a:xfrm>
          <a:prstGeom prst="ellipse">
            <a:avLst/>
          </a:prstGeom>
          <a:solidFill>
            <a:srgbClr val="8B7FF5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3400">
                <a:solidFill>
                  <a:srgbClr val="F3F7FF"/>
                </a:solidFill>
                <a:latin typeface="Segoe UI Emoji"/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0" b="1" i="0">
                <a:solidFill>
                  <a:srgbClr val="F3F7FF"/>
                </a:solidFill>
                <a:latin typeface="Segoe UI Semibold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2D3EE"/>
                </a:solidFill>
                <a:latin typeface="Segoe UI"/>
              </a:rPr>
              <a:t>Six months ago most of us had never written a line of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38144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93A5C0"/>
                </a:solidFill>
                <a:latin typeface="Segoe UI"/>
              </a:rPr>
              <a:t>Today we built a robot that listens, talks, and teaches on its fingers.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420624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dirty="0">
                <a:solidFill>
                  <a:srgbClr val="22D3EE"/>
                </a:solidFill>
                <a:latin typeface="Segoe UI Semibold"/>
              </a:rPr>
              <a:t>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93A5C0"/>
                </a:solidFill>
                <a:latin typeface="Segoe UI"/>
              </a:rPr>
              <a:t>Student One, Student Two, Student Three, Student Four</a:t>
            </a:r>
          </a:p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93A5C0"/>
                </a:solidFill>
                <a:latin typeface="Segoe UI"/>
              </a:rPr>
              <a:t>6-Month Coding Bootcamp  ·  Secondary School Cohort  ·  4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Maxi  ·  6-Month Coding Bootcamp  ·  4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55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794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4357</Words>
  <Application>Microsoft Office PowerPoint</Application>
  <PresentationFormat>Widescreen</PresentationFormat>
  <Paragraphs>474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Consolas</vt:lpstr>
      <vt:lpstr>Segoe UI</vt:lpstr>
      <vt:lpstr>Segoe UI Emoji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Mc AK Yerima</cp:lastModifiedBy>
  <cp:revision>3</cp:revision>
  <dcterms:created xsi:type="dcterms:W3CDTF">2013-01-27T09:14:16Z</dcterms:created>
  <dcterms:modified xsi:type="dcterms:W3CDTF">2026-07-29T14:17:59Z</dcterms:modified>
  <cp:category/>
</cp:coreProperties>
</file>